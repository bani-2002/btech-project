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60" r:id="rId3"/>
    <p:sldId id="279" r:id="rId4"/>
    <p:sldId id="285" r:id="rId5"/>
    <p:sldId id="269" r:id="rId6"/>
    <p:sldId id="270" r:id="rId7"/>
    <p:sldId id="273" r:id="rId8"/>
    <p:sldId id="280" r:id="rId9"/>
    <p:sldId id="262" r:id="rId10"/>
    <p:sldId id="281" r:id="rId11"/>
    <p:sldId id="282" r:id="rId12"/>
    <p:sldId id="283" r:id="rId13"/>
    <p:sldId id="284" r:id="rId14"/>
    <p:sldId id="265" r:id="rId15"/>
    <p:sldId id="286" r:id="rId16"/>
    <p:sldId id="287" r:id="rId17"/>
    <p:sldId id="288" r:id="rId18"/>
    <p:sldId id="289" r:id="rId19"/>
    <p:sldId id="290" r:id="rId20"/>
    <p:sldId id="291" r:id="rId21"/>
    <p:sldId id="292" r:id="rId22"/>
    <p:sldId id="293" r:id="rId23"/>
    <p:sldId id="294" r:id="rId24"/>
    <p:sldId id="295" r:id="rId25"/>
    <p:sldId id="271" r:id="rId26"/>
    <p:sldId id="296" r:id="rId27"/>
    <p:sldId id="297"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1" d="100"/>
          <a:sy n="91" d="100"/>
        </p:scale>
        <p:origin x="32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6/16/2025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6/16/2025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6/16/2025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6/16/2025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6/16/2025</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6/16/2025</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6/16/2025</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6/16/2025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6/16/2025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6/16/2025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6/16/2025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6/16/2025</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7.xml"/><Relationship Id="rId5" Type="http://schemas.openxmlformats.org/officeDocument/2006/relationships/image" Target="../media/image26.jpeg"/><Relationship Id="rId4" Type="http://schemas.openxmlformats.org/officeDocument/2006/relationships/image" Target="../media/image25.jpe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174F27-31DD-5E74-10BB-AB05EB4015FF}"/>
              </a:ext>
            </a:extLst>
          </p:cNvPr>
          <p:cNvSpPr txBox="1"/>
          <p:nvPr/>
        </p:nvSpPr>
        <p:spPr>
          <a:xfrm>
            <a:off x="1865182" y="2416208"/>
            <a:ext cx="8671390" cy="3875420"/>
          </a:xfrm>
          <a:prstGeom prst="rect">
            <a:avLst/>
          </a:prstGeom>
          <a:pattFill prst="openDmnd">
            <a:fgClr>
              <a:schemeClr val="accent1">
                <a:lumMod val="75000"/>
              </a:schemeClr>
            </a:fgClr>
            <a:bgClr>
              <a:schemeClr val="tx1">
                <a:lumMod val="75000"/>
              </a:schemeClr>
            </a:bgClr>
          </a:pattFill>
          <a:ln>
            <a:solidFill>
              <a:schemeClr val="bg1"/>
            </a:solidFill>
          </a:ln>
          <a:effectLst>
            <a:glow rad="228600">
              <a:schemeClr val="accent1">
                <a:alpha val="40000"/>
              </a:schemeClr>
            </a:glow>
          </a:effectLst>
          <a:scene3d>
            <a:camera prst="obliqueTopLeft"/>
            <a:lightRig rig="threePt" dir="t"/>
          </a:scene3d>
          <a:sp3d>
            <a:bevelT prst="angle"/>
            <a:bevelB prst="angle"/>
          </a:sp3d>
        </p:spPr>
        <p:txBody>
          <a:bodyPr wrap="square" rtlCol="0">
            <a:spAutoFit/>
          </a:bodyPr>
          <a:lstStyle/>
          <a:p>
            <a:pPr marR="90805">
              <a:spcBef>
                <a:spcPts val="700"/>
              </a:spcBef>
            </a:pPr>
            <a:r>
              <a:rPr lang="en-IN" sz="2000" b="1" dirty="0">
                <a:pattFill prst="dotDmnd">
                  <a:fgClr>
                    <a:schemeClr val="accent2">
                      <a:lumMod val="75000"/>
                    </a:schemeClr>
                  </a:fgClr>
                  <a:bgClr>
                    <a:schemeClr val="bg1"/>
                  </a:bgClr>
                </a:pattFill>
                <a:effectLst>
                  <a:glow rad="228600">
                    <a:schemeClr val="accent1">
                      <a:satMod val="175000"/>
                      <a:alpha val="40000"/>
                    </a:schemeClr>
                  </a:glow>
                  <a:outerShdw blurRad="38100" dist="38100" dir="2700000" algn="tl">
                    <a:srgbClr val="000000">
                      <a:alpha val="43137"/>
                    </a:srgbClr>
                  </a:outerShdw>
                </a:effectLst>
                <a:latin typeface="Maiandra GD" panose="020E0502030308020204" pitchFamily="34" charset="0"/>
                <a:cs typeface="Arial"/>
              </a:rPr>
              <a:t>PROJECT MEMBERS :</a:t>
            </a:r>
          </a:p>
          <a:p>
            <a:pPr marR="90805">
              <a:spcBef>
                <a:spcPts val="700"/>
              </a:spcBef>
            </a:pPr>
            <a:r>
              <a:rPr lang="en-IN" sz="2000" b="1" dirty="0">
                <a:pattFill prst="dotDmnd">
                  <a:fgClr>
                    <a:schemeClr val="accent2">
                      <a:lumMod val="75000"/>
                    </a:schemeClr>
                  </a:fgClr>
                  <a:bgClr>
                    <a:schemeClr val="bg1"/>
                  </a:bgClr>
                </a:pattFill>
                <a:effectLst>
                  <a:glow rad="228600">
                    <a:schemeClr val="accent1">
                      <a:satMod val="175000"/>
                      <a:alpha val="40000"/>
                    </a:schemeClr>
                  </a:glow>
                  <a:outerShdw blurRad="38100" dist="38100" dir="2700000" algn="tl">
                    <a:srgbClr val="000000">
                      <a:alpha val="43137"/>
                    </a:srgbClr>
                  </a:outerShdw>
                </a:effectLst>
                <a:latin typeface="Maiandra GD" panose="020E0502030308020204" pitchFamily="34" charset="0"/>
                <a:cs typeface="Arial"/>
              </a:rPr>
              <a:t>		BANIBRATA MANNA	11200121005</a:t>
            </a:r>
          </a:p>
          <a:p>
            <a:pPr marR="90805">
              <a:spcBef>
                <a:spcPts val="700"/>
              </a:spcBef>
            </a:pPr>
            <a:r>
              <a:rPr lang="en-IN" sz="2000" b="1" dirty="0">
                <a:pattFill prst="dotDmnd">
                  <a:fgClr>
                    <a:schemeClr val="accent2">
                      <a:lumMod val="75000"/>
                    </a:schemeClr>
                  </a:fgClr>
                  <a:bgClr>
                    <a:schemeClr val="bg1"/>
                  </a:bgClr>
                </a:pattFill>
                <a:effectLst>
                  <a:glow rad="228600">
                    <a:schemeClr val="accent1">
                      <a:satMod val="175000"/>
                      <a:alpha val="40000"/>
                    </a:schemeClr>
                  </a:glow>
                  <a:outerShdw blurRad="38100" dist="38100" dir="2700000" algn="tl">
                    <a:srgbClr val="000000">
                      <a:alpha val="43137"/>
                    </a:srgbClr>
                  </a:outerShdw>
                </a:effectLst>
                <a:latin typeface="Maiandra GD" panose="020E0502030308020204" pitchFamily="34" charset="0"/>
                <a:cs typeface="Arial"/>
              </a:rPr>
              <a:t>		SUSMITA SARKAR		11200121036</a:t>
            </a:r>
          </a:p>
          <a:p>
            <a:pPr marR="90805">
              <a:spcBef>
                <a:spcPts val="700"/>
              </a:spcBef>
            </a:pPr>
            <a:r>
              <a:rPr lang="en-IN" sz="2000" b="1" dirty="0">
                <a:pattFill prst="dotDmnd">
                  <a:fgClr>
                    <a:schemeClr val="accent2">
                      <a:lumMod val="75000"/>
                    </a:schemeClr>
                  </a:fgClr>
                  <a:bgClr>
                    <a:schemeClr val="bg1"/>
                  </a:bgClr>
                </a:pattFill>
                <a:effectLst>
                  <a:glow rad="228600">
                    <a:schemeClr val="accent1">
                      <a:satMod val="175000"/>
                      <a:alpha val="40000"/>
                    </a:schemeClr>
                  </a:glow>
                  <a:outerShdw blurRad="38100" dist="38100" dir="2700000" algn="tl">
                    <a:srgbClr val="000000">
                      <a:alpha val="43137"/>
                    </a:srgbClr>
                  </a:outerShdw>
                </a:effectLst>
                <a:latin typeface="Maiandra GD" panose="020E0502030308020204" pitchFamily="34" charset="0"/>
                <a:cs typeface="Arial"/>
              </a:rPr>
              <a:t>		SUNAYANI MONDAL	11200121039</a:t>
            </a:r>
          </a:p>
          <a:p>
            <a:pPr marR="90805">
              <a:spcBef>
                <a:spcPts val="700"/>
              </a:spcBef>
            </a:pPr>
            <a:r>
              <a:rPr lang="en-IN" sz="2000" b="1" dirty="0">
                <a:pattFill prst="dotDmnd">
                  <a:fgClr>
                    <a:schemeClr val="accent2">
                      <a:lumMod val="75000"/>
                    </a:schemeClr>
                  </a:fgClr>
                  <a:bgClr>
                    <a:schemeClr val="bg1"/>
                  </a:bgClr>
                </a:pattFill>
                <a:effectLst>
                  <a:glow rad="228600">
                    <a:schemeClr val="accent1">
                      <a:satMod val="175000"/>
                      <a:alpha val="40000"/>
                    </a:schemeClr>
                  </a:glow>
                  <a:outerShdw blurRad="38100" dist="38100" dir="2700000" algn="tl">
                    <a:srgbClr val="000000">
                      <a:alpha val="43137"/>
                    </a:srgbClr>
                  </a:outerShdw>
                </a:effectLst>
                <a:latin typeface="Maiandra GD" panose="020E0502030308020204" pitchFamily="34" charset="0"/>
                <a:cs typeface="Arial"/>
              </a:rPr>
              <a:t>		MRINMAYEE MAITY	11200121056</a:t>
            </a:r>
          </a:p>
          <a:p>
            <a:pPr marR="90805">
              <a:spcBef>
                <a:spcPts val="700"/>
              </a:spcBef>
            </a:pPr>
            <a:r>
              <a:rPr lang="en-IN" sz="2000" b="1" dirty="0">
                <a:pattFill prst="dotDmnd">
                  <a:fgClr>
                    <a:schemeClr val="accent2">
                      <a:lumMod val="75000"/>
                    </a:schemeClr>
                  </a:fgClr>
                  <a:bgClr>
                    <a:schemeClr val="bg1"/>
                  </a:bgClr>
                </a:pattFill>
                <a:effectLst>
                  <a:glow rad="228600">
                    <a:schemeClr val="accent1">
                      <a:satMod val="175000"/>
                      <a:alpha val="40000"/>
                    </a:schemeClr>
                  </a:glow>
                  <a:outerShdw blurRad="38100" dist="38100" dir="2700000" algn="tl">
                    <a:srgbClr val="000000">
                      <a:alpha val="43137"/>
                    </a:srgbClr>
                  </a:outerShdw>
                </a:effectLst>
                <a:latin typeface="Maiandra GD" panose="020E0502030308020204" pitchFamily="34" charset="0"/>
                <a:cs typeface="Arial"/>
              </a:rPr>
              <a:t>		NAYAN SAHA			11200122068</a:t>
            </a:r>
          </a:p>
          <a:p>
            <a:pPr marR="90805">
              <a:spcBef>
                <a:spcPts val="700"/>
              </a:spcBef>
            </a:pPr>
            <a:r>
              <a:rPr lang="en-IN" sz="2000" b="1" dirty="0">
                <a:pattFill prst="dotDmnd">
                  <a:fgClr>
                    <a:schemeClr val="accent2">
                      <a:lumMod val="75000"/>
                    </a:schemeClr>
                  </a:fgClr>
                  <a:bgClr>
                    <a:schemeClr val="bg1"/>
                  </a:bgClr>
                </a:pattFill>
                <a:effectLst>
                  <a:glow rad="228600">
                    <a:schemeClr val="accent1">
                      <a:satMod val="175000"/>
                      <a:alpha val="40000"/>
                    </a:schemeClr>
                  </a:glow>
                  <a:outerShdw blurRad="38100" dist="38100" dir="2700000" algn="tl">
                    <a:srgbClr val="000000">
                      <a:alpha val="43137"/>
                    </a:srgbClr>
                  </a:outerShdw>
                </a:effectLst>
                <a:latin typeface="Maiandra GD" panose="020E0502030308020204" pitchFamily="34" charset="0"/>
                <a:cs typeface="Arial"/>
              </a:rPr>
              <a:t>		ATUL PANDEY			11200221027</a:t>
            </a:r>
          </a:p>
          <a:p>
            <a:pPr marR="90805">
              <a:spcBef>
                <a:spcPts val="700"/>
              </a:spcBef>
            </a:pPr>
            <a:r>
              <a:rPr lang="en-IN" sz="2000" b="1" dirty="0">
                <a:pattFill prst="dotDmnd">
                  <a:fgClr>
                    <a:schemeClr val="accent2">
                      <a:lumMod val="75000"/>
                    </a:schemeClr>
                  </a:fgClr>
                  <a:bgClr>
                    <a:schemeClr val="bg1"/>
                  </a:bgClr>
                </a:pattFill>
                <a:effectLst>
                  <a:glow rad="228600">
                    <a:schemeClr val="accent1">
                      <a:satMod val="175000"/>
                      <a:alpha val="40000"/>
                    </a:schemeClr>
                  </a:glow>
                  <a:outerShdw blurRad="38100" dist="38100" dir="2700000" algn="tl">
                    <a:srgbClr val="000000">
                      <a:alpha val="43137"/>
                    </a:srgbClr>
                  </a:outerShdw>
                </a:effectLst>
                <a:latin typeface="Maiandra GD" panose="020E0502030308020204" pitchFamily="34" charset="0"/>
                <a:cs typeface="Arial"/>
              </a:rPr>
              <a:t>STREAM : COMPUTER SCIENCE &amp; ENGINEERING (CSE)  </a:t>
            </a:r>
          </a:p>
          <a:p>
            <a:pPr marR="90805">
              <a:spcBef>
                <a:spcPts val="600"/>
              </a:spcBef>
            </a:pPr>
            <a:r>
              <a:rPr lang="en-IN" sz="2000" b="1" dirty="0">
                <a:pattFill prst="dotDmnd">
                  <a:fgClr>
                    <a:schemeClr val="accent2">
                      <a:lumMod val="75000"/>
                    </a:schemeClr>
                  </a:fgClr>
                  <a:bgClr>
                    <a:schemeClr val="bg1"/>
                  </a:bgClr>
                </a:pattFill>
                <a:effectLst>
                  <a:glow rad="228600">
                    <a:schemeClr val="accent1">
                      <a:satMod val="175000"/>
                      <a:alpha val="40000"/>
                    </a:schemeClr>
                  </a:glow>
                  <a:outerShdw blurRad="38100" dist="38100" dir="2700000" algn="tl">
                    <a:srgbClr val="000000">
                      <a:alpha val="43137"/>
                    </a:srgbClr>
                  </a:outerShdw>
                </a:effectLst>
                <a:latin typeface="Maiandra GD" panose="020E0502030308020204" pitchFamily="34" charset="0"/>
                <a:cs typeface="Arial"/>
              </a:rPr>
              <a:t>INSTITUTE : GOVERNMENT COLLEGE OF ENGINEERING &amp; 			   	 		  LEATHER TECHNOLOGY</a:t>
            </a:r>
            <a:endParaRPr lang="en-IN" b="1" dirty="0">
              <a:pattFill prst="dotDmnd">
                <a:fgClr>
                  <a:schemeClr val="accent2">
                    <a:lumMod val="75000"/>
                  </a:schemeClr>
                </a:fgClr>
                <a:bgClr>
                  <a:schemeClr val="bg1"/>
                </a:bgClr>
              </a:pattFill>
              <a:effectLst>
                <a:glow rad="228600">
                  <a:schemeClr val="accent1">
                    <a:satMod val="175000"/>
                    <a:alpha val="40000"/>
                  </a:schemeClr>
                </a:glow>
                <a:outerShdw blurRad="38100" dist="38100" dir="2700000" algn="tl">
                  <a:srgbClr val="000000">
                    <a:alpha val="43137"/>
                  </a:srgbClr>
                </a:outerShdw>
              </a:effectLst>
              <a:latin typeface="Maiandra GD" panose="020E0502030308020204" pitchFamily="34" charset="0"/>
            </a:endParaRPr>
          </a:p>
        </p:txBody>
      </p:sp>
      <p:sp>
        <p:nvSpPr>
          <p:cNvPr id="3" name="TextBox 2">
            <a:extLst>
              <a:ext uri="{FF2B5EF4-FFF2-40B4-BE49-F238E27FC236}">
                <a16:creationId xmlns:a16="http://schemas.microsoft.com/office/drawing/2014/main" id="{EB8E4C18-E0F9-CA38-4A3C-EEFA5E843087}"/>
              </a:ext>
            </a:extLst>
          </p:cNvPr>
          <p:cNvSpPr txBox="1"/>
          <p:nvPr/>
        </p:nvSpPr>
        <p:spPr>
          <a:xfrm>
            <a:off x="1129157" y="323786"/>
            <a:ext cx="10313426" cy="1446550"/>
          </a:xfrm>
          <a:prstGeom prst="rect">
            <a:avLst/>
          </a:prstGeom>
          <a:noFill/>
        </p:spPr>
        <p:txBody>
          <a:bodyPr wrap="square" rtlCol="0">
            <a:spAutoFit/>
          </a:bodyPr>
          <a:lstStyle/>
          <a:p>
            <a:r>
              <a:rPr lang="en-IN" sz="4400" b="1" spc="-150" dirty="0">
                <a:pattFill prst="pct5">
                  <a:fgClr>
                    <a:schemeClr val="tx1"/>
                  </a:fgClr>
                  <a:bgClr>
                    <a:schemeClr val="bg1"/>
                  </a:bgClr>
                </a:pattFill>
                <a:effectLst>
                  <a:glow rad="228600">
                    <a:srgbClr val="85FB19">
                      <a:alpha val="40000"/>
                    </a:srgbClr>
                  </a:glow>
                  <a:outerShdw blurRad="38100" dist="38100" dir="2700000" algn="tl">
                    <a:srgbClr val="000000">
                      <a:alpha val="43137"/>
                    </a:srgbClr>
                  </a:outerShdw>
                </a:effectLst>
                <a:latin typeface="Colonna MT" panose="04020805060202030203" pitchFamily="82" charset="0"/>
              </a:rPr>
              <a:t>IoT based real-time weather monitoring &amp; ML prediction system with Power BI visualisation</a:t>
            </a:r>
            <a:endParaRPr lang="en-IN" sz="4400" b="1" dirty="0">
              <a:pattFill prst="pct5">
                <a:fgClr>
                  <a:schemeClr val="tx1"/>
                </a:fgClr>
                <a:bgClr>
                  <a:schemeClr val="bg1"/>
                </a:bgClr>
              </a:pattFill>
              <a:effectLst>
                <a:outerShdw blurRad="38100" dist="38100" dir="2700000" algn="tl">
                  <a:srgbClr val="000000">
                    <a:alpha val="43137"/>
                  </a:srgbClr>
                </a:outerShdw>
              </a:effectLst>
              <a:latin typeface="Colonna MT" panose="04020805060202030203" pitchFamily="82" charset="0"/>
            </a:endParaRPr>
          </a:p>
        </p:txBody>
      </p:sp>
      <p:sp>
        <p:nvSpPr>
          <p:cNvPr id="4" name="TextBox 3">
            <a:extLst>
              <a:ext uri="{FF2B5EF4-FFF2-40B4-BE49-F238E27FC236}">
                <a16:creationId xmlns:a16="http://schemas.microsoft.com/office/drawing/2014/main" id="{BCCCAC47-4E2D-5D21-9AC8-5C3FC14295D4}"/>
              </a:ext>
            </a:extLst>
          </p:cNvPr>
          <p:cNvSpPr txBox="1"/>
          <p:nvPr/>
        </p:nvSpPr>
        <p:spPr>
          <a:xfrm>
            <a:off x="11442583" y="5781659"/>
            <a:ext cx="749417"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⟮0⟯</a:t>
            </a:r>
          </a:p>
        </p:txBody>
      </p:sp>
    </p:spTree>
    <p:extLst>
      <p:ext uri="{BB962C8B-B14F-4D97-AF65-F5344CB8AC3E}">
        <p14:creationId xmlns:p14="http://schemas.microsoft.com/office/powerpoint/2010/main" val="34115266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F1DCE5-48F2-793A-0FF6-923CE0201255}"/>
              </a:ext>
            </a:extLst>
          </p:cNvPr>
          <p:cNvSpPr txBox="1"/>
          <p:nvPr/>
        </p:nvSpPr>
        <p:spPr>
          <a:xfrm>
            <a:off x="1314251" y="269605"/>
            <a:ext cx="9826330"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cs typeface="Verdana"/>
              </a:rPr>
              <a:t>PROJECT ABSTRACT</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42B7CC06-93FD-6E86-9E82-4A95C959F3FF}"/>
              </a:ext>
            </a:extLst>
          </p:cNvPr>
          <p:cNvSpPr txBox="1"/>
          <p:nvPr/>
        </p:nvSpPr>
        <p:spPr>
          <a:xfrm>
            <a:off x="1314252" y="1118843"/>
            <a:ext cx="10010886" cy="5016758"/>
          </a:xfrm>
          <a:prstGeom prst="rect">
            <a:avLst/>
          </a:prstGeom>
          <a:noFill/>
          <a:ln>
            <a:noFill/>
          </a:ln>
        </p:spPr>
        <p:style>
          <a:lnRef idx="0">
            <a:scrgbClr r="0" g="0" b="0"/>
          </a:lnRef>
          <a:fillRef idx="0">
            <a:scrgbClr r="0" g="0" b="0"/>
          </a:fillRef>
          <a:effectRef idx="0">
            <a:scrgbClr r="0" g="0" b="0"/>
          </a:effectRef>
          <a:fontRef idx="minor">
            <a:schemeClr val="accent1"/>
          </a:fontRef>
        </p:style>
        <p:txBody>
          <a:bodyPr wrap="square" rtlCol="0">
            <a:spAutoFit/>
          </a:bodyPr>
          <a:lstStyle/>
          <a:p>
            <a:r>
              <a:rPr lang="en-US" altLang="en-US" dirty="0">
                <a:solidFill>
                  <a:schemeClr val="accent1">
                    <a:lumMod val="40000"/>
                    <a:lumOff val="60000"/>
                  </a:schemeClr>
                </a:solidFill>
                <a:latin typeface="Goudy Old Style" panose="02020502050305020303" pitchFamily="18" charset="0"/>
                <a:cs typeface="Times New Roman" panose="02020603050405020304" charset="0"/>
              </a:rPr>
              <a:t>The project "IoT–Based Real–Time Weather Monitoring and Machine Learning Prediction System with Power BI Visualization" is designed to capture real–time environmental data using an IoT–integrated weather station. The system utilizes Arduino Uno R4 Wi–Fi as its main microcontroller, interfacing with various sensors including DHT11, MQ–135, LDR, Rain Sensor, and BMP280 to collect temperature, humidity, air quality, atmospheric pressure, rainfall, and light intensity data.</a:t>
            </a:r>
          </a:p>
          <a:p>
            <a:pPr marL="285750" indent="-285750">
              <a:buFont typeface="Wingdings" panose="05000000000000000000" pitchFamily="2" charset="2"/>
              <a:buChar char="Ø"/>
            </a:pPr>
            <a:endParaRPr lang="en-US" altLang="en-US" dirty="0">
              <a:solidFill>
                <a:schemeClr val="accent1">
                  <a:lumMod val="40000"/>
                  <a:lumOff val="60000"/>
                </a:schemeClr>
              </a:solidFill>
              <a:latin typeface="Times New Roman" panose="02020603050405020304" charset="0"/>
              <a:cs typeface="Times New Roman" panose="02020603050405020304" charset="0"/>
            </a:endParaRPr>
          </a:p>
          <a:p>
            <a:r>
              <a:rPr lang="en-US" b="1" dirty="0">
                <a:solidFill>
                  <a:srgbClr val="FFFF00"/>
                </a:solidFill>
                <a:latin typeface="Goudy Old Style" panose="02020502050305020303" pitchFamily="18" charset="0"/>
              </a:rPr>
              <a:t>Key Features :</a:t>
            </a:r>
          </a:p>
          <a:p>
            <a:endParaRPr lang="en-US" b="1" dirty="0">
              <a:solidFill>
                <a:srgbClr val="FFFF00"/>
              </a:solidFill>
              <a:latin typeface="Goudy Old Style" panose="02020502050305020303" pitchFamily="18" charset="0"/>
            </a:endParaRPr>
          </a:p>
          <a:p>
            <a:pPr marL="285750" indent="-285750">
              <a:buFont typeface="Wingdings" panose="05000000000000000000" pitchFamily="2" charset="2"/>
              <a:buChar char="Ø"/>
            </a:pPr>
            <a:r>
              <a:rPr lang="en-US" altLang="en-US" b="1" dirty="0">
                <a:solidFill>
                  <a:schemeClr val="accent5">
                    <a:lumMod val="60000"/>
                    <a:lumOff val="40000"/>
                  </a:schemeClr>
                </a:solidFill>
                <a:latin typeface="Goudy Old Style" panose="02020502050305020303" pitchFamily="18" charset="0"/>
              </a:rPr>
              <a:t>Wireless Data Transmission : </a:t>
            </a:r>
            <a:r>
              <a:rPr lang="en-US" altLang="en-US" dirty="0">
                <a:solidFill>
                  <a:schemeClr val="accent1">
                    <a:lumMod val="40000"/>
                    <a:lumOff val="60000"/>
                  </a:schemeClr>
                </a:solidFill>
                <a:latin typeface="Goudy Old Style" panose="02020502050305020303" pitchFamily="18" charset="0"/>
              </a:rPr>
              <a:t>Sensor data is sent to the ThingSpeak IoT platform for remote access and analysis.</a:t>
            </a: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r>
              <a:rPr lang="en-US" altLang="en-US" b="1" dirty="0">
                <a:solidFill>
                  <a:schemeClr val="accent5">
                    <a:lumMod val="60000"/>
                    <a:lumOff val="40000"/>
                  </a:schemeClr>
                </a:solidFill>
                <a:latin typeface="Goudy Old Style" panose="02020502050305020303" pitchFamily="18" charset="0"/>
              </a:rPr>
              <a:t>Machine Learning Integration : </a:t>
            </a:r>
            <a:r>
              <a:rPr lang="en-US" altLang="en-US" dirty="0">
                <a:solidFill>
                  <a:schemeClr val="accent1">
                    <a:lumMod val="40000"/>
                    <a:lumOff val="60000"/>
                  </a:schemeClr>
                </a:solidFill>
                <a:latin typeface="Goudy Old Style" panose="02020502050305020303" pitchFamily="18" charset="0"/>
              </a:rPr>
              <a:t>Historical weather data is analyzed using ML algorithms to predict future weather patterns.</a:t>
            </a: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r>
              <a:rPr lang="en-US" altLang="en-US" b="1" dirty="0">
                <a:solidFill>
                  <a:schemeClr val="accent5">
                    <a:lumMod val="60000"/>
                    <a:lumOff val="40000"/>
                  </a:schemeClr>
                </a:solidFill>
                <a:latin typeface="Goudy Old Style" panose="02020502050305020303" pitchFamily="18" charset="0"/>
              </a:rPr>
              <a:t>Power BI Visualization : </a:t>
            </a:r>
            <a:r>
              <a:rPr lang="en-US" altLang="en-US" dirty="0">
                <a:solidFill>
                  <a:schemeClr val="accent1">
                    <a:lumMod val="40000"/>
                    <a:lumOff val="60000"/>
                  </a:schemeClr>
                </a:solidFill>
                <a:latin typeface="Goudy Old Style" panose="02020502050305020303" pitchFamily="18" charset="0"/>
              </a:rPr>
              <a:t>Real–time graphs and insights help users track environmental changes interactively.</a:t>
            </a: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r>
              <a:rPr lang="en-US" altLang="en-US" b="1" dirty="0">
                <a:solidFill>
                  <a:schemeClr val="accent5">
                    <a:lumMod val="60000"/>
                    <a:lumOff val="40000"/>
                  </a:schemeClr>
                </a:solidFill>
                <a:latin typeface="Goudy Old Style" panose="02020502050305020303" pitchFamily="18" charset="0"/>
              </a:rPr>
              <a:t>OLED Display Interface : </a:t>
            </a:r>
            <a:r>
              <a:rPr lang="en-US" altLang="en-US" dirty="0">
                <a:solidFill>
                  <a:schemeClr val="accent1">
                    <a:lumMod val="40000"/>
                    <a:lumOff val="60000"/>
                  </a:schemeClr>
                </a:solidFill>
                <a:latin typeface="Goudy Old Style" panose="02020502050305020303" pitchFamily="18" charset="0"/>
              </a:rPr>
              <a:t>Local monitoring of weather parameters for instant feedback.</a:t>
            </a: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r>
              <a:rPr lang="en-US" altLang="en-US" b="1" dirty="0">
                <a:solidFill>
                  <a:schemeClr val="accent5">
                    <a:lumMod val="60000"/>
                    <a:lumOff val="40000"/>
                  </a:schemeClr>
                </a:solidFill>
                <a:latin typeface="Goudy Old Style" panose="02020502050305020303" pitchFamily="18" charset="0"/>
              </a:rPr>
              <a:t>Web &amp; Mobile Accessibility : </a:t>
            </a:r>
            <a:r>
              <a:rPr lang="en-US" altLang="en-US" dirty="0">
                <a:solidFill>
                  <a:schemeClr val="accent1">
                    <a:lumMod val="40000"/>
                    <a:lumOff val="60000"/>
                  </a:schemeClr>
                </a:solidFill>
                <a:latin typeface="Goudy Old Style" panose="02020502050305020303" pitchFamily="18" charset="0"/>
              </a:rPr>
              <a:t>Users can access the system via an interactive web server or mobile application.</a:t>
            </a:r>
            <a:endParaRPr lang="en-IN" sz="1800" dirty="0">
              <a:solidFill>
                <a:schemeClr val="accent1">
                  <a:lumMod val="20000"/>
                  <a:lumOff val="80000"/>
                </a:schemeClr>
              </a:solidFill>
              <a:latin typeface="Goudy Old Style" panose="02020502050305020303" pitchFamily="18" charset="0"/>
            </a:endParaRPr>
          </a:p>
        </p:txBody>
      </p:sp>
      <p:sp>
        <p:nvSpPr>
          <p:cNvPr id="3" name="TextBox 2">
            <a:extLst>
              <a:ext uri="{FF2B5EF4-FFF2-40B4-BE49-F238E27FC236}">
                <a16:creationId xmlns:a16="http://schemas.microsoft.com/office/drawing/2014/main" id="{D8FAB40C-3928-A6AF-ADBE-B7409849C906}"/>
              </a:ext>
            </a:extLst>
          </p:cNvPr>
          <p:cNvSpPr txBox="1"/>
          <p:nvPr/>
        </p:nvSpPr>
        <p:spPr>
          <a:xfrm>
            <a:off x="11442583" y="5781659"/>
            <a:ext cx="749417"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⟮1⟯</a:t>
            </a:r>
          </a:p>
        </p:txBody>
      </p:sp>
    </p:spTree>
    <p:extLst>
      <p:ext uri="{BB962C8B-B14F-4D97-AF65-F5344CB8AC3E}">
        <p14:creationId xmlns:p14="http://schemas.microsoft.com/office/powerpoint/2010/main" val="2168668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74E37-7321-0598-046A-425D0E993F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D85DA39-6D38-7342-88D1-1DD5261D3880}"/>
              </a:ext>
            </a:extLst>
          </p:cNvPr>
          <p:cNvSpPr txBox="1"/>
          <p:nvPr/>
        </p:nvSpPr>
        <p:spPr>
          <a:xfrm>
            <a:off x="1314251" y="269605"/>
            <a:ext cx="9826330"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cs typeface="Verdana"/>
              </a:rPr>
              <a:t>INTRODUCTION</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78ED482B-B0C5-B89F-3D8B-63DE8AA54C1F}"/>
              </a:ext>
            </a:extLst>
          </p:cNvPr>
          <p:cNvSpPr txBox="1"/>
          <p:nvPr/>
        </p:nvSpPr>
        <p:spPr>
          <a:xfrm>
            <a:off x="1314252" y="1118843"/>
            <a:ext cx="9700493" cy="4247317"/>
          </a:xfrm>
          <a:prstGeom prst="rect">
            <a:avLst/>
          </a:prstGeom>
          <a:noFill/>
          <a:ln>
            <a:noFill/>
          </a:ln>
        </p:spPr>
        <p:style>
          <a:lnRef idx="0">
            <a:scrgbClr r="0" g="0" b="0"/>
          </a:lnRef>
          <a:fillRef idx="0">
            <a:scrgbClr r="0" g="0" b="0"/>
          </a:fillRef>
          <a:effectRef idx="0">
            <a:scrgbClr r="0" g="0" b="0"/>
          </a:effectRef>
          <a:fontRef idx="minor">
            <a:schemeClr val="accent1"/>
          </a:fontRef>
        </p:style>
        <p:txBody>
          <a:bodyPr wrap="square" rtlCol="0">
            <a:spAutoFit/>
          </a:bodyPr>
          <a:lstStyle/>
          <a:p>
            <a:pPr marL="285750" indent="-285750">
              <a:buFont typeface="Wingdings" panose="05000000000000000000" pitchFamily="2" charset="2"/>
              <a:buChar char="Ø"/>
            </a:pPr>
            <a:r>
              <a:rPr lang="en-US" altLang="en-US" dirty="0">
                <a:solidFill>
                  <a:schemeClr val="accent1">
                    <a:lumMod val="40000"/>
                    <a:lumOff val="60000"/>
                  </a:schemeClr>
                </a:solidFill>
                <a:latin typeface="Goudy Old Style" panose="02020502050305020303" pitchFamily="18" charset="0"/>
              </a:rPr>
              <a:t>The Internet of Things (IoT)  is revolutionizing technology by enabling interconnected devices to communicate and share data efficiently. </a:t>
            </a: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r>
              <a:rPr lang="en-US" altLang="en-US" dirty="0">
                <a:solidFill>
                  <a:schemeClr val="accent1">
                    <a:lumMod val="40000"/>
                    <a:lumOff val="60000"/>
                  </a:schemeClr>
                </a:solidFill>
                <a:latin typeface="Goudy Old Style" panose="02020502050305020303" pitchFamily="18" charset="0"/>
              </a:rPr>
              <a:t>This project focuses on developing an IoT–based weather monitoring system that utilizes sensors and  machine learning algorithms to track various environmental parameters such as temperature, humidity, air quality, rain, atmospheric pressure, and altitude. </a:t>
            </a: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r>
              <a:rPr lang="en-US" altLang="en-US" dirty="0">
                <a:solidFill>
                  <a:schemeClr val="accent1">
                    <a:lumMod val="40000"/>
                    <a:lumOff val="60000"/>
                  </a:schemeClr>
                </a:solidFill>
                <a:latin typeface="Goudy Old Style" panose="02020502050305020303" pitchFamily="18" charset="0"/>
              </a:rPr>
              <a:t>The gathered data is processed and visualized using Power BI and cloud–based platforms like ThingSpeak.</a:t>
            </a: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r>
              <a:rPr lang="en-US" altLang="en-US" dirty="0">
                <a:solidFill>
                  <a:schemeClr val="accent1">
                    <a:lumMod val="40000"/>
                    <a:lumOff val="60000"/>
                  </a:schemeClr>
                </a:solidFill>
                <a:latin typeface="Goudy Old Style" panose="02020502050305020303" pitchFamily="18" charset="0"/>
              </a:rPr>
              <a:t>By leveraging Arduino UNO R4 Wi–Fi and multiple sensors, this system provides real–time monitoring and predictive analytics for weather forecasting. </a:t>
            </a: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r>
              <a:rPr lang="en-US" altLang="en-US" dirty="0">
                <a:solidFill>
                  <a:schemeClr val="accent1">
                    <a:lumMod val="40000"/>
                    <a:lumOff val="60000"/>
                  </a:schemeClr>
                </a:solidFill>
                <a:latin typeface="Goudy Old Style" panose="02020502050305020303" pitchFamily="18" charset="0"/>
              </a:rPr>
              <a:t>The integration of wireless technology ensures remote accessibility, allowing users to obtain localized weather insights without relying solely on traditional meteorological institutions.</a:t>
            </a: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r>
              <a:rPr lang="en-US" altLang="en-US" dirty="0">
                <a:solidFill>
                  <a:schemeClr val="accent1">
                    <a:lumMod val="40000"/>
                    <a:lumOff val="60000"/>
                  </a:schemeClr>
                </a:solidFill>
                <a:latin typeface="Goudy Old Style" panose="02020502050305020303" pitchFamily="18" charset="0"/>
              </a:rPr>
              <a:t>Additionally, machine learning models analyze historical weather data to improve forecast accuracy.</a:t>
            </a: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r>
              <a:rPr lang="en-US" altLang="en-US" dirty="0">
                <a:solidFill>
                  <a:schemeClr val="accent1">
                    <a:lumMod val="40000"/>
                    <a:lumOff val="60000"/>
                  </a:schemeClr>
                </a:solidFill>
                <a:latin typeface="Goudy Old Style" panose="02020502050305020303" pitchFamily="18" charset="0"/>
              </a:rPr>
              <a:t>This intelligent system enhances decision–making in agriculture, urban planning, and environmental management, demonstrating the power of IoT in creating smart and efficient solutions.</a:t>
            </a:r>
            <a:endParaRPr lang="en-IN" sz="1800" dirty="0">
              <a:solidFill>
                <a:schemeClr val="accent1">
                  <a:lumMod val="40000"/>
                  <a:lumOff val="60000"/>
                </a:schemeClr>
              </a:solidFill>
              <a:latin typeface="Goudy Old Style" panose="02020502050305020303" pitchFamily="18" charset="0"/>
            </a:endParaRPr>
          </a:p>
        </p:txBody>
      </p:sp>
      <p:sp>
        <p:nvSpPr>
          <p:cNvPr id="3" name="TextBox 2">
            <a:extLst>
              <a:ext uri="{FF2B5EF4-FFF2-40B4-BE49-F238E27FC236}">
                <a16:creationId xmlns:a16="http://schemas.microsoft.com/office/drawing/2014/main" id="{A83D3E45-100A-B064-768C-8E435A9708F2}"/>
              </a:ext>
            </a:extLst>
          </p:cNvPr>
          <p:cNvSpPr txBox="1"/>
          <p:nvPr/>
        </p:nvSpPr>
        <p:spPr>
          <a:xfrm>
            <a:off x="11442583" y="5781659"/>
            <a:ext cx="749417"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⟮2⟯</a:t>
            </a:r>
          </a:p>
        </p:txBody>
      </p:sp>
    </p:spTree>
    <p:extLst>
      <p:ext uri="{BB962C8B-B14F-4D97-AF65-F5344CB8AC3E}">
        <p14:creationId xmlns:p14="http://schemas.microsoft.com/office/powerpoint/2010/main" val="3156648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C4470-099A-5825-4AEA-355E6DA3ED2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A2A6171-EE1F-1903-2891-6CBC3E84D3A7}"/>
              </a:ext>
            </a:extLst>
          </p:cNvPr>
          <p:cNvSpPr txBox="1"/>
          <p:nvPr/>
        </p:nvSpPr>
        <p:spPr>
          <a:xfrm>
            <a:off x="1314251" y="269605"/>
            <a:ext cx="9826330"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rPr>
              <a:t>OBJECTIVES</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3" name="TextBox 2">
            <a:extLst>
              <a:ext uri="{FF2B5EF4-FFF2-40B4-BE49-F238E27FC236}">
                <a16:creationId xmlns:a16="http://schemas.microsoft.com/office/drawing/2014/main" id="{F202F085-963A-23F9-290F-EBAEB8950260}"/>
              </a:ext>
            </a:extLst>
          </p:cNvPr>
          <p:cNvSpPr txBox="1"/>
          <p:nvPr/>
        </p:nvSpPr>
        <p:spPr>
          <a:xfrm>
            <a:off x="11442583" y="5781659"/>
            <a:ext cx="749417"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⟮3⟯</a:t>
            </a:r>
          </a:p>
        </p:txBody>
      </p:sp>
      <p:sp>
        <p:nvSpPr>
          <p:cNvPr id="4" name="TextBox 3">
            <a:extLst>
              <a:ext uri="{FF2B5EF4-FFF2-40B4-BE49-F238E27FC236}">
                <a16:creationId xmlns:a16="http://schemas.microsoft.com/office/drawing/2014/main" id="{66DBC356-8896-2FE5-1078-925B3CA5C862}"/>
              </a:ext>
            </a:extLst>
          </p:cNvPr>
          <p:cNvSpPr txBox="1"/>
          <p:nvPr/>
        </p:nvSpPr>
        <p:spPr>
          <a:xfrm>
            <a:off x="1314251" y="1118843"/>
            <a:ext cx="9926997" cy="5001369"/>
          </a:xfrm>
          <a:prstGeom prst="rect">
            <a:avLst/>
          </a:prstGeom>
          <a:noFill/>
        </p:spPr>
        <p:txBody>
          <a:bodyPr wrap="square" rtlCol="0">
            <a:spAutoFit/>
          </a:bodyPr>
          <a:lstStyle/>
          <a:p>
            <a:r>
              <a:rPr lang="en-US" altLang="en-US" dirty="0">
                <a:solidFill>
                  <a:schemeClr val="accent1">
                    <a:lumMod val="40000"/>
                    <a:lumOff val="60000"/>
                  </a:schemeClr>
                </a:solidFill>
                <a:latin typeface="Goudy Old Style" panose="02020502050305020303" pitchFamily="18" charset="0"/>
              </a:rPr>
              <a:t>The primary objective of this project is to develop an IoT–based real–time weather monitoring and machine learning prediction system equipped with Power BI visualization This system aims to:</a:t>
            </a:r>
          </a:p>
          <a:p>
            <a:endParaRPr lang="en-US" altLang="en-US"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r>
              <a:rPr lang="en-US" altLang="en-US" dirty="0">
                <a:solidFill>
                  <a:schemeClr val="accent1">
                    <a:lumMod val="40000"/>
                    <a:lumOff val="60000"/>
                  </a:schemeClr>
                </a:solidFill>
                <a:latin typeface="Goudy Old Style" panose="02020502050305020303" pitchFamily="18" charset="0"/>
              </a:rPr>
              <a:t>Monitor key environmental parameters like temperature, humidity, air quality, atmospheric pressure, altitude, and rainfall using a network of sensors.</a:t>
            </a: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r>
              <a:rPr lang="en-US" altLang="en-US" dirty="0">
                <a:solidFill>
                  <a:schemeClr val="accent1">
                    <a:lumMod val="40000"/>
                    <a:lumOff val="60000"/>
                  </a:schemeClr>
                </a:solidFill>
                <a:latin typeface="Goudy Old Style" panose="02020502050305020303" pitchFamily="18" charset="0"/>
              </a:rPr>
              <a:t>Ensure real–time data collection and transmission to a cloud–based IoT platform (ThingSpeak) for analysis and visualization.</a:t>
            </a: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r>
              <a:rPr lang="en-US" altLang="en-US" dirty="0">
                <a:solidFill>
                  <a:schemeClr val="accent1">
                    <a:lumMod val="40000"/>
                    <a:lumOff val="60000"/>
                  </a:schemeClr>
                </a:solidFill>
                <a:latin typeface="Goudy Old Style" panose="02020502050305020303" pitchFamily="18" charset="0"/>
              </a:rPr>
              <a:t>Utilize machine learning models to process historical weather data, improving forecast accuracy for predictive analytics.</a:t>
            </a: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r>
              <a:rPr lang="en-US" altLang="en-US" dirty="0">
                <a:solidFill>
                  <a:schemeClr val="accent1">
                    <a:lumMod val="40000"/>
                    <a:lumOff val="60000"/>
                  </a:schemeClr>
                </a:solidFill>
                <a:latin typeface="Goudy Old Style" panose="02020502050305020303" pitchFamily="18" charset="0"/>
              </a:rPr>
              <a:t>Enable remote access to weather insights through a web–based dashboard and mobile applications, making localized weather information accessible anytime.</a:t>
            </a: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r>
              <a:rPr lang="en-US" altLang="en-US" dirty="0">
                <a:solidFill>
                  <a:schemeClr val="accent1">
                    <a:lumMod val="40000"/>
                    <a:lumOff val="60000"/>
                  </a:schemeClr>
                </a:solidFill>
                <a:latin typeface="Goudy Old Style" panose="02020502050305020303" pitchFamily="18" charset="0"/>
              </a:rPr>
              <a:t>Enhance decision–making in agriculture, urban planning, and environmental management by providing detailed analytics and forecast trends.</a:t>
            </a: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r>
              <a:rPr lang="en-US" altLang="en-US" dirty="0">
                <a:solidFill>
                  <a:schemeClr val="accent1">
                    <a:lumMod val="40000"/>
                    <a:lumOff val="60000"/>
                  </a:schemeClr>
                </a:solidFill>
                <a:latin typeface="Goudy Old Style" panose="02020502050305020303" pitchFamily="18" charset="0"/>
              </a:rPr>
              <a:t>Integrate Power BI visualization for interactive, data–driven insights and improved user experience.</a:t>
            </a:r>
          </a:p>
          <a:p>
            <a:endParaRPr lang="en-US" altLang="en-US" dirty="0">
              <a:solidFill>
                <a:schemeClr val="accent1">
                  <a:lumMod val="40000"/>
                  <a:lumOff val="60000"/>
                </a:schemeClr>
              </a:solidFill>
              <a:latin typeface="Goudy Old Style" panose="02020502050305020303" pitchFamily="18" charset="0"/>
            </a:endParaRPr>
          </a:p>
          <a:p>
            <a:r>
              <a:rPr lang="en-US" altLang="en-US" dirty="0">
                <a:solidFill>
                  <a:schemeClr val="accent1">
                    <a:lumMod val="40000"/>
                    <a:lumOff val="60000"/>
                  </a:schemeClr>
                </a:solidFill>
                <a:latin typeface="Goudy Old Style" panose="02020502050305020303" pitchFamily="18" charset="0"/>
              </a:rPr>
              <a:t>By combining Arduino UNO R4 Wi–Fi, various sensors, and machine learning algorithms, this project presents a cost–effective, scalable solution** for weather monitoring and forecasting. </a:t>
            </a:r>
            <a:endParaRPr lang="en-US" dirty="0">
              <a:solidFill>
                <a:schemeClr val="accent1">
                  <a:lumMod val="40000"/>
                  <a:lumOff val="60000"/>
                </a:schemeClr>
              </a:solidFill>
              <a:latin typeface="Goudy Old Style" panose="02020502050305020303" pitchFamily="18" charset="0"/>
            </a:endParaRPr>
          </a:p>
        </p:txBody>
      </p:sp>
    </p:spTree>
    <p:extLst>
      <p:ext uri="{BB962C8B-B14F-4D97-AF65-F5344CB8AC3E}">
        <p14:creationId xmlns:p14="http://schemas.microsoft.com/office/powerpoint/2010/main" val="2323708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0E9B3-788E-69A0-8A7D-B2A063D58AC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456C5BC-C669-D392-D40A-8F3EA54B97C5}"/>
              </a:ext>
            </a:extLst>
          </p:cNvPr>
          <p:cNvSpPr txBox="1"/>
          <p:nvPr/>
        </p:nvSpPr>
        <p:spPr>
          <a:xfrm>
            <a:off x="1045802" y="303161"/>
            <a:ext cx="10220613"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cs typeface="Verdana"/>
              </a:rPr>
              <a:t>SYSTEM BLOCK DIAGRAM</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3" name="TextBox 2">
            <a:extLst>
              <a:ext uri="{FF2B5EF4-FFF2-40B4-BE49-F238E27FC236}">
                <a16:creationId xmlns:a16="http://schemas.microsoft.com/office/drawing/2014/main" id="{F93A42C7-18C7-545C-1AF2-54E14BCC0C4C}"/>
              </a:ext>
            </a:extLst>
          </p:cNvPr>
          <p:cNvSpPr txBox="1"/>
          <p:nvPr/>
        </p:nvSpPr>
        <p:spPr>
          <a:xfrm>
            <a:off x="11442583" y="5781659"/>
            <a:ext cx="749417"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⟮4⟯</a:t>
            </a:r>
          </a:p>
        </p:txBody>
      </p:sp>
      <p:sp>
        <p:nvSpPr>
          <p:cNvPr id="5" name="TextBox 4">
            <a:extLst>
              <a:ext uri="{FF2B5EF4-FFF2-40B4-BE49-F238E27FC236}">
                <a16:creationId xmlns:a16="http://schemas.microsoft.com/office/drawing/2014/main" id="{03F256FB-DE96-83FF-A1B4-BEBFB7D81796}"/>
              </a:ext>
            </a:extLst>
          </p:cNvPr>
          <p:cNvSpPr txBox="1"/>
          <p:nvPr/>
        </p:nvSpPr>
        <p:spPr>
          <a:xfrm>
            <a:off x="4662558" y="6266714"/>
            <a:ext cx="2866883" cy="369332"/>
          </a:xfrm>
          <a:prstGeom prst="rect">
            <a:avLst/>
          </a:prstGeom>
          <a:noFill/>
        </p:spPr>
        <p:txBody>
          <a:bodyPr wrap="square">
            <a:spAutoFit/>
          </a:bodyPr>
          <a:lstStyle/>
          <a:p>
            <a:r>
              <a:rPr lang="en-US" i="1" dirty="0">
                <a:solidFill>
                  <a:srgbClr val="FFFF00"/>
                </a:solidFill>
                <a:latin typeface="Bookman Old Style" panose="02050604050505020204" pitchFamily="18" charset="0"/>
              </a:rPr>
              <a:t>Interconnection Diagram</a:t>
            </a:r>
            <a:endParaRPr lang="en-US" i="1" dirty="0">
              <a:solidFill>
                <a:schemeClr val="accent1">
                  <a:lumMod val="40000"/>
                  <a:lumOff val="60000"/>
                </a:schemeClr>
              </a:solidFill>
              <a:latin typeface="Bookman Old Style" panose="02050604050505020204" pitchFamily="18" charset="0"/>
            </a:endParaRPr>
          </a:p>
        </p:txBody>
      </p:sp>
      <p:pic>
        <p:nvPicPr>
          <p:cNvPr id="7" name="Picture 6">
            <a:extLst>
              <a:ext uri="{FF2B5EF4-FFF2-40B4-BE49-F238E27FC236}">
                <a16:creationId xmlns:a16="http://schemas.microsoft.com/office/drawing/2014/main" id="{0F2AA3A7-C496-D63C-73DE-4AF4FB8B4469}"/>
              </a:ext>
            </a:extLst>
          </p:cNvPr>
          <p:cNvPicPr>
            <a:picLocks noChangeAspect="1"/>
          </p:cNvPicPr>
          <p:nvPr/>
        </p:nvPicPr>
        <p:blipFill>
          <a:blip r:embed="rId2"/>
          <a:stretch>
            <a:fillRect/>
          </a:stretch>
        </p:blipFill>
        <p:spPr>
          <a:xfrm>
            <a:off x="2184199" y="1380182"/>
            <a:ext cx="7823601" cy="4752599"/>
          </a:xfrm>
          <a:prstGeom prst="rect">
            <a:avLst/>
          </a:prstGeom>
          <a:ln w="31750">
            <a:solidFill>
              <a:schemeClr val="bg1"/>
            </a:solidFill>
          </a:ln>
          <a:effectLst>
            <a:glow rad="101600">
              <a:schemeClr val="accent1">
                <a:satMod val="175000"/>
                <a:alpha val="40000"/>
              </a:schemeClr>
            </a:glow>
          </a:effectLst>
        </p:spPr>
      </p:pic>
    </p:spTree>
    <p:extLst>
      <p:ext uri="{BB962C8B-B14F-4D97-AF65-F5344CB8AC3E}">
        <p14:creationId xmlns:p14="http://schemas.microsoft.com/office/powerpoint/2010/main" val="3775475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6CD69-8705-5C55-5EFB-7D3290E1D29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1FD616-7EC1-ACCF-64C2-566954000E9E}"/>
              </a:ext>
            </a:extLst>
          </p:cNvPr>
          <p:cNvSpPr txBox="1"/>
          <p:nvPr/>
        </p:nvSpPr>
        <p:spPr>
          <a:xfrm>
            <a:off x="1045802" y="303161"/>
            <a:ext cx="10992399"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cs typeface="Verdana"/>
              </a:rPr>
              <a:t>COMPONENTS USED</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389C83C3-821A-D7CD-061A-2260D8CF0984}"/>
              </a:ext>
            </a:extLst>
          </p:cNvPr>
          <p:cNvSpPr txBox="1"/>
          <p:nvPr/>
        </p:nvSpPr>
        <p:spPr>
          <a:xfrm>
            <a:off x="1045802" y="1110454"/>
            <a:ext cx="9826329" cy="4247317"/>
          </a:xfrm>
          <a:prstGeom prst="rect">
            <a:avLst/>
          </a:prstGeom>
          <a:noFill/>
          <a:ln>
            <a:noFill/>
          </a:ln>
        </p:spPr>
        <p:style>
          <a:lnRef idx="0">
            <a:scrgbClr r="0" g="0" b="0"/>
          </a:lnRef>
          <a:fillRef idx="0">
            <a:scrgbClr r="0" g="0" b="0"/>
          </a:fillRef>
          <a:effectRef idx="0">
            <a:scrgbClr r="0" g="0" b="0"/>
          </a:effectRef>
          <a:fontRef idx="minor">
            <a:schemeClr val="accent1"/>
          </a:fontRef>
        </p:style>
        <p:txBody>
          <a:bodyPr wrap="square" rtlCol="0">
            <a:spAutoFit/>
          </a:bodyPr>
          <a:lstStyle/>
          <a:p>
            <a:r>
              <a:rPr lang="en-US" b="1" dirty="0">
                <a:solidFill>
                  <a:srgbClr val="FFFF00"/>
                </a:solidFill>
                <a:latin typeface="Goudy Old Style" panose="02020502050305020303" pitchFamily="18" charset="0"/>
              </a:rPr>
              <a:t>Hardwares :</a:t>
            </a:r>
          </a:p>
          <a:p>
            <a:pPr>
              <a:buFont typeface="Wingdings" panose="05000000000000000000" charset="0"/>
              <a:buChar char="Ø"/>
            </a:pPr>
            <a:r>
              <a:rPr lang="en-US" altLang="en-US" dirty="0">
                <a:solidFill>
                  <a:schemeClr val="accent1">
                    <a:lumMod val="40000"/>
                    <a:lumOff val="60000"/>
                  </a:schemeClr>
                </a:solidFill>
                <a:latin typeface="Goudy Old Style" panose="02020502050305020303" pitchFamily="18" charset="0"/>
              </a:rPr>
              <a:t> Arduino Uno R4 Wi–Fi</a:t>
            </a:r>
          </a:p>
          <a:p>
            <a:pPr>
              <a:buFont typeface="Wingdings" panose="05000000000000000000" charset="0"/>
              <a:buChar char="Ø"/>
            </a:pPr>
            <a:r>
              <a:rPr lang="en-US" altLang="en-US" dirty="0">
                <a:solidFill>
                  <a:schemeClr val="accent1">
                    <a:lumMod val="40000"/>
                    <a:lumOff val="60000"/>
                  </a:schemeClr>
                </a:solidFill>
                <a:latin typeface="Goudy Old Style" panose="02020502050305020303" pitchFamily="18" charset="0"/>
              </a:rPr>
              <a:t> DHT 11 Sensor</a:t>
            </a:r>
          </a:p>
          <a:p>
            <a:pPr>
              <a:buFont typeface="Wingdings" panose="05000000000000000000" charset="0"/>
              <a:buChar char="Ø"/>
            </a:pPr>
            <a:r>
              <a:rPr lang="en-US" altLang="en-US" dirty="0">
                <a:solidFill>
                  <a:schemeClr val="accent1">
                    <a:lumMod val="40000"/>
                    <a:lumOff val="60000"/>
                  </a:schemeClr>
                </a:solidFill>
                <a:latin typeface="Goudy Old Style" panose="02020502050305020303" pitchFamily="18" charset="0"/>
              </a:rPr>
              <a:t> Rain Sensor</a:t>
            </a:r>
          </a:p>
          <a:p>
            <a:pPr>
              <a:buFont typeface="Wingdings" panose="05000000000000000000" charset="0"/>
              <a:buChar char="Ø"/>
            </a:pPr>
            <a:r>
              <a:rPr lang="en-US" altLang="en-US" dirty="0">
                <a:solidFill>
                  <a:schemeClr val="accent1">
                    <a:lumMod val="40000"/>
                    <a:lumOff val="60000"/>
                  </a:schemeClr>
                </a:solidFill>
                <a:latin typeface="Goudy Old Style" panose="02020502050305020303" pitchFamily="18" charset="0"/>
              </a:rPr>
              <a:t> LDR Sensor</a:t>
            </a:r>
          </a:p>
          <a:p>
            <a:pPr>
              <a:buFont typeface="Wingdings" panose="05000000000000000000" charset="0"/>
              <a:buChar char="Ø"/>
            </a:pPr>
            <a:r>
              <a:rPr lang="en-US" altLang="en-US" dirty="0">
                <a:solidFill>
                  <a:schemeClr val="accent1">
                    <a:lumMod val="40000"/>
                    <a:lumOff val="60000"/>
                  </a:schemeClr>
                </a:solidFill>
                <a:latin typeface="Goudy Old Style" panose="02020502050305020303" pitchFamily="18" charset="0"/>
              </a:rPr>
              <a:t> MQ 135 Sensor</a:t>
            </a:r>
          </a:p>
          <a:p>
            <a:pPr>
              <a:buFont typeface="Wingdings" panose="05000000000000000000" charset="0"/>
              <a:buChar char="Ø"/>
            </a:pPr>
            <a:r>
              <a:rPr lang="en-US" altLang="en-US" dirty="0">
                <a:solidFill>
                  <a:schemeClr val="accent1">
                    <a:lumMod val="40000"/>
                    <a:lumOff val="60000"/>
                  </a:schemeClr>
                </a:solidFill>
                <a:latin typeface="Goudy Old Style" panose="02020502050305020303" pitchFamily="18" charset="0"/>
              </a:rPr>
              <a:t> BMP 280 Sensor</a:t>
            </a:r>
          </a:p>
          <a:p>
            <a:pPr>
              <a:buFont typeface="Wingdings" panose="05000000000000000000" charset="0"/>
              <a:buChar char="Ø"/>
            </a:pPr>
            <a:r>
              <a:rPr lang="en-US" altLang="en-US" dirty="0">
                <a:solidFill>
                  <a:schemeClr val="accent1">
                    <a:lumMod val="40000"/>
                    <a:lumOff val="60000"/>
                  </a:schemeClr>
                </a:solidFill>
                <a:latin typeface="Goudy Old Style" panose="02020502050305020303" pitchFamily="18" charset="0"/>
              </a:rPr>
              <a:t> OLED Display</a:t>
            </a:r>
          </a:p>
          <a:p>
            <a:endParaRPr lang="en-US" b="1" dirty="0">
              <a:solidFill>
                <a:srgbClr val="FFFF00"/>
              </a:solidFill>
              <a:latin typeface="Goudy Old Style" panose="02020502050305020303" pitchFamily="18" charset="0"/>
            </a:endParaRPr>
          </a:p>
          <a:p>
            <a:r>
              <a:rPr lang="en-US" b="1" dirty="0">
                <a:solidFill>
                  <a:srgbClr val="FFFF00"/>
                </a:solidFill>
                <a:latin typeface="Goudy Old Style" panose="02020502050305020303" pitchFamily="18" charset="0"/>
              </a:rPr>
              <a:t>Softwares :</a:t>
            </a:r>
          </a:p>
          <a:p>
            <a:pPr marL="285750" indent="-285750">
              <a:buFont typeface="Wingdings" panose="05000000000000000000" pitchFamily="2" charset="2"/>
              <a:buChar char="Ø"/>
            </a:pPr>
            <a:r>
              <a:rPr lang="en-US" altLang="en-US" dirty="0">
                <a:solidFill>
                  <a:schemeClr val="accent1">
                    <a:lumMod val="40000"/>
                    <a:lumOff val="60000"/>
                  </a:schemeClr>
                </a:solidFill>
                <a:latin typeface="Goudy Old Style" panose="02020502050305020303" pitchFamily="18" charset="0"/>
              </a:rPr>
              <a:t>Arduino IDE</a:t>
            </a:r>
          </a:p>
          <a:p>
            <a:pPr marL="285750" indent="-285750">
              <a:buFont typeface="Wingdings" panose="05000000000000000000" pitchFamily="2" charset="2"/>
              <a:buChar char="Ø"/>
            </a:pPr>
            <a:r>
              <a:rPr lang="en-US" altLang="en-US" dirty="0">
                <a:solidFill>
                  <a:schemeClr val="accent1">
                    <a:lumMod val="40000"/>
                    <a:lumOff val="60000"/>
                  </a:schemeClr>
                </a:solidFill>
                <a:latin typeface="Goudy Old Style" panose="02020502050305020303" pitchFamily="18" charset="0"/>
              </a:rPr>
              <a:t>ThingSpeak IoT Platform</a:t>
            </a:r>
          </a:p>
          <a:p>
            <a:pPr marL="285750" indent="-285750">
              <a:buFont typeface="Wingdings" panose="05000000000000000000" pitchFamily="2" charset="2"/>
              <a:buChar char="Ø"/>
            </a:pPr>
            <a:r>
              <a:rPr lang="en-US" altLang="en-US" dirty="0">
                <a:solidFill>
                  <a:schemeClr val="accent1">
                    <a:lumMod val="40000"/>
                    <a:lumOff val="60000"/>
                  </a:schemeClr>
                </a:solidFill>
                <a:latin typeface="Goudy Old Style" panose="02020502050305020303" pitchFamily="18" charset="0"/>
              </a:rPr>
              <a:t>Python </a:t>
            </a:r>
          </a:p>
          <a:p>
            <a:pPr marL="285750" indent="-285750">
              <a:buFont typeface="Wingdings" panose="05000000000000000000" pitchFamily="2" charset="2"/>
              <a:buChar char="Ø"/>
            </a:pPr>
            <a:r>
              <a:rPr lang="en-US" altLang="en-US" dirty="0">
                <a:solidFill>
                  <a:schemeClr val="accent1">
                    <a:lumMod val="40000"/>
                    <a:lumOff val="60000"/>
                  </a:schemeClr>
                </a:solidFill>
                <a:latin typeface="Goudy Old Style" panose="02020502050305020303" pitchFamily="18" charset="0"/>
              </a:rPr>
              <a:t>PyCharm</a:t>
            </a:r>
          </a:p>
          <a:p>
            <a:pPr marL="285750" indent="-285750">
              <a:buFont typeface="Wingdings" panose="05000000000000000000" pitchFamily="2" charset="2"/>
              <a:buChar char="Ø"/>
            </a:pPr>
            <a:r>
              <a:rPr lang="en-US" altLang="en-US" dirty="0">
                <a:solidFill>
                  <a:schemeClr val="accent1">
                    <a:lumMod val="40000"/>
                    <a:lumOff val="60000"/>
                  </a:schemeClr>
                </a:solidFill>
                <a:latin typeface="Goudy Old Style" panose="02020502050305020303" pitchFamily="18" charset="0"/>
              </a:rPr>
              <a:t>MATLAB</a:t>
            </a:r>
            <a:endParaRPr lang="en-US" dirty="0">
              <a:solidFill>
                <a:schemeClr val="accent1">
                  <a:lumMod val="40000"/>
                  <a:lumOff val="60000"/>
                </a:schemeClr>
              </a:solidFill>
              <a:latin typeface="Goudy Old Style" panose="02020502050305020303" pitchFamily="18" charset="0"/>
            </a:endParaRPr>
          </a:p>
        </p:txBody>
      </p:sp>
      <p:sp>
        <p:nvSpPr>
          <p:cNvPr id="3" name="TextBox 2">
            <a:extLst>
              <a:ext uri="{FF2B5EF4-FFF2-40B4-BE49-F238E27FC236}">
                <a16:creationId xmlns:a16="http://schemas.microsoft.com/office/drawing/2014/main" id="{0BE9EA89-9044-5C7D-473E-735CCC61D4B5}"/>
              </a:ext>
            </a:extLst>
          </p:cNvPr>
          <p:cNvSpPr txBox="1"/>
          <p:nvPr/>
        </p:nvSpPr>
        <p:spPr>
          <a:xfrm>
            <a:off x="11442583" y="5781659"/>
            <a:ext cx="749417"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⟮5⟯</a:t>
            </a:r>
          </a:p>
        </p:txBody>
      </p:sp>
    </p:spTree>
    <p:extLst>
      <p:ext uri="{BB962C8B-B14F-4D97-AF65-F5344CB8AC3E}">
        <p14:creationId xmlns:p14="http://schemas.microsoft.com/office/powerpoint/2010/main" val="618135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9C461-578F-F2BE-6B6D-2589D33302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9E8A4A3-7709-8275-FF2D-D89F49E5C483}"/>
              </a:ext>
            </a:extLst>
          </p:cNvPr>
          <p:cNvSpPr txBox="1"/>
          <p:nvPr/>
        </p:nvSpPr>
        <p:spPr>
          <a:xfrm>
            <a:off x="1045802" y="303161"/>
            <a:ext cx="10992399"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cs typeface="Verdana"/>
              </a:rPr>
              <a:t>ARDUINO UNO R4 WIFI</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3" name="TextBox 2">
            <a:extLst>
              <a:ext uri="{FF2B5EF4-FFF2-40B4-BE49-F238E27FC236}">
                <a16:creationId xmlns:a16="http://schemas.microsoft.com/office/drawing/2014/main" id="{63BBF863-ABC4-4553-163B-B4498D9E24B1}"/>
              </a:ext>
            </a:extLst>
          </p:cNvPr>
          <p:cNvSpPr txBox="1"/>
          <p:nvPr/>
        </p:nvSpPr>
        <p:spPr>
          <a:xfrm>
            <a:off x="11442583" y="5781659"/>
            <a:ext cx="749417"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⟮6⟯</a:t>
            </a:r>
          </a:p>
        </p:txBody>
      </p:sp>
      <p:pic>
        <p:nvPicPr>
          <p:cNvPr id="4" name="Picture 1">
            <a:extLst>
              <a:ext uri="{FF2B5EF4-FFF2-40B4-BE49-F238E27FC236}">
                <a16:creationId xmlns:a16="http://schemas.microsoft.com/office/drawing/2014/main" id="{62D9CDEE-1986-7BA6-0CD3-1894524F3A39}"/>
              </a:ext>
            </a:extLst>
          </p:cNvPr>
          <p:cNvPicPr>
            <a:picLocks noChangeAspect="1"/>
          </p:cNvPicPr>
          <p:nvPr/>
        </p:nvPicPr>
        <p:blipFill>
          <a:blip r:embed="rId2"/>
          <a:stretch>
            <a:fillRect/>
          </a:stretch>
        </p:blipFill>
        <p:spPr>
          <a:xfrm>
            <a:off x="1191636" y="1918603"/>
            <a:ext cx="5259015" cy="3863056"/>
          </a:xfrm>
          <a:prstGeom prst="rect">
            <a:avLst/>
          </a:prstGeom>
          <a:noFill/>
          <a:ln w="31750">
            <a:solidFill>
              <a:schemeClr val="bg1"/>
            </a:solidFill>
          </a:ln>
          <a:effectLst>
            <a:glow rad="101600">
              <a:schemeClr val="accent1">
                <a:satMod val="175000"/>
                <a:alpha val="40000"/>
              </a:schemeClr>
            </a:glow>
          </a:effectLst>
        </p:spPr>
      </p:pic>
      <p:pic>
        <p:nvPicPr>
          <p:cNvPr id="6" name="Picture 2">
            <a:extLst>
              <a:ext uri="{FF2B5EF4-FFF2-40B4-BE49-F238E27FC236}">
                <a16:creationId xmlns:a16="http://schemas.microsoft.com/office/drawing/2014/main" id="{701D6046-BFA8-6DA7-6364-1367268F37B0}"/>
              </a:ext>
            </a:extLst>
          </p:cNvPr>
          <p:cNvPicPr>
            <a:picLocks noChangeAspect="1"/>
          </p:cNvPicPr>
          <p:nvPr/>
        </p:nvPicPr>
        <p:blipFill>
          <a:blip r:embed="rId3"/>
          <a:srcRect t="6854"/>
          <a:stretch>
            <a:fillRect/>
          </a:stretch>
        </p:blipFill>
        <p:spPr>
          <a:xfrm>
            <a:off x="6613357" y="1770077"/>
            <a:ext cx="4387007" cy="4086352"/>
          </a:xfrm>
          <a:prstGeom prst="rect">
            <a:avLst/>
          </a:prstGeom>
          <a:noFill/>
          <a:ln w="31750">
            <a:solidFill>
              <a:schemeClr val="bg1"/>
            </a:solidFill>
          </a:ln>
          <a:effectLst>
            <a:glow rad="101600">
              <a:schemeClr val="accent1">
                <a:satMod val="175000"/>
                <a:alpha val="40000"/>
              </a:schemeClr>
            </a:glow>
          </a:effectLst>
        </p:spPr>
      </p:pic>
      <p:sp>
        <p:nvSpPr>
          <p:cNvPr id="8" name="TextBox 7">
            <a:extLst>
              <a:ext uri="{FF2B5EF4-FFF2-40B4-BE49-F238E27FC236}">
                <a16:creationId xmlns:a16="http://schemas.microsoft.com/office/drawing/2014/main" id="{EC8B16F5-8B4F-A7B5-E177-A06EFBD80AFF}"/>
              </a:ext>
            </a:extLst>
          </p:cNvPr>
          <p:cNvSpPr txBox="1"/>
          <p:nvPr/>
        </p:nvSpPr>
        <p:spPr>
          <a:xfrm>
            <a:off x="8037407" y="5997102"/>
            <a:ext cx="1538906" cy="369332"/>
          </a:xfrm>
          <a:prstGeom prst="rect">
            <a:avLst/>
          </a:prstGeom>
          <a:noFill/>
        </p:spPr>
        <p:txBody>
          <a:bodyPr wrap="square">
            <a:spAutoFit/>
          </a:bodyPr>
          <a:lstStyle/>
          <a:p>
            <a:r>
              <a:rPr lang="en-US" i="1" dirty="0">
                <a:solidFill>
                  <a:srgbClr val="FFFF00"/>
                </a:solidFill>
                <a:latin typeface="Bookman Old Style" panose="02050604050505020204" pitchFamily="18" charset="0"/>
              </a:rPr>
              <a:t>Pin Diagram</a:t>
            </a:r>
            <a:endParaRPr lang="en-US" i="1" dirty="0">
              <a:solidFill>
                <a:schemeClr val="accent1">
                  <a:lumMod val="40000"/>
                  <a:lumOff val="60000"/>
                </a:schemeClr>
              </a:solidFill>
              <a:latin typeface="Bookman Old Style" panose="02050604050505020204" pitchFamily="18" charset="0"/>
            </a:endParaRPr>
          </a:p>
        </p:txBody>
      </p:sp>
      <p:sp>
        <p:nvSpPr>
          <p:cNvPr id="9" name="TextBox 8">
            <a:extLst>
              <a:ext uri="{FF2B5EF4-FFF2-40B4-BE49-F238E27FC236}">
                <a16:creationId xmlns:a16="http://schemas.microsoft.com/office/drawing/2014/main" id="{FD062A4E-DDAB-3F3F-4E7F-DA8840088E70}"/>
              </a:ext>
            </a:extLst>
          </p:cNvPr>
          <p:cNvSpPr txBox="1"/>
          <p:nvPr/>
        </p:nvSpPr>
        <p:spPr>
          <a:xfrm>
            <a:off x="2387701" y="5997102"/>
            <a:ext cx="2866883" cy="369332"/>
          </a:xfrm>
          <a:prstGeom prst="rect">
            <a:avLst/>
          </a:prstGeom>
          <a:noFill/>
        </p:spPr>
        <p:txBody>
          <a:bodyPr wrap="square">
            <a:spAutoFit/>
          </a:bodyPr>
          <a:lstStyle/>
          <a:p>
            <a:r>
              <a:rPr lang="en-US" i="1" dirty="0">
                <a:solidFill>
                  <a:srgbClr val="FFFF00"/>
                </a:solidFill>
                <a:latin typeface="Bookman Old Style" panose="02050604050505020204" pitchFamily="18" charset="0"/>
              </a:rPr>
              <a:t>Interconnection Diagram</a:t>
            </a:r>
            <a:endParaRPr lang="en-US" i="1" dirty="0">
              <a:solidFill>
                <a:schemeClr val="accent1">
                  <a:lumMod val="40000"/>
                  <a:lumOff val="60000"/>
                </a:schemeClr>
              </a:solidFill>
              <a:latin typeface="Bookman Old Style" panose="02050604050505020204" pitchFamily="18" charset="0"/>
            </a:endParaRPr>
          </a:p>
        </p:txBody>
      </p:sp>
    </p:spTree>
    <p:extLst>
      <p:ext uri="{BB962C8B-B14F-4D97-AF65-F5344CB8AC3E}">
        <p14:creationId xmlns:p14="http://schemas.microsoft.com/office/powerpoint/2010/main" val="3480577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3B0F4-AE7B-D8DB-1D80-9699D32ABCE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EE4367A-94A7-09F9-EEBC-4BE38759E805}"/>
              </a:ext>
            </a:extLst>
          </p:cNvPr>
          <p:cNvSpPr txBox="1"/>
          <p:nvPr/>
        </p:nvSpPr>
        <p:spPr>
          <a:xfrm>
            <a:off x="1045802" y="303161"/>
            <a:ext cx="10992399"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cs typeface="Verdana"/>
              </a:rPr>
              <a:t>DHT11 SENSOR</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3" name="TextBox 2">
            <a:extLst>
              <a:ext uri="{FF2B5EF4-FFF2-40B4-BE49-F238E27FC236}">
                <a16:creationId xmlns:a16="http://schemas.microsoft.com/office/drawing/2014/main" id="{8867503F-328E-C11C-ED38-4F6DFF25F28C}"/>
              </a:ext>
            </a:extLst>
          </p:cNvPr>
          <p:cNvSpPr txBox="1"/>
          <p:nvPr/>
        </p:nvSpPr>
        <p:spPr>
          <a:xfrm>
            <a:off x="11442583" y="5781659"/>
            <a:ext cx="749417"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⟮7⟯</a:t>
            </a:r>
          </a:p>
        </p:txBody>
      </p:sp>
      <p:sp>
        <p:nvSpPr>
          <p:cNvPr id="7" name="TextBox 6">
            <a:extLst>
              <a:ext uri="{FF2B5EF4-FFF2-40B4-BE49-F238E27FC236}">
                <a16:creationId xmlns:a16="http://schemas.microsoft.com/office/drawing/2014/main" id="{A1D33770-C6AD-4D69-888D-98A00F486990}"/>
              </a:ext>
            </a:extLst>
          </p:cNvPr>
          <p:cNvSpPr txBox="1"/>
          <p:nvPr/>
        </p:nvSpPr>
        <p:spPr>
          <a:xfrm>
            <a:off x="1045801" y="1199527"/>
            <a:ext cx="7028524" cy="5632311"/>
          </a:xfrm>
          <a:prstGeom prst="rect">
            <a:avLst/>
          </a:prstGeom>
          <a:noFill/>
        </p:spPr>
        <p:txBody>
          <a:bodyPr wrap="square">
            <a:spAutoFit/>
          </a:bodyPr>
          <a:lstStyle/>
          <a:p>
            <a:pPr algn="just"/>
            <a:r>
              <a:rPr lang="en-US" altLang="en-US" b="1" dirty="0">
                <a:solidFill>
                  <a:srgbClr val="FFFF00"/>
                </a:solidFill>
                <a:latin typeface="Goudy Old Style" panose="02020502050305020303" pitchFamily="18" charset="0"/>
              </a:rPr>
              <a:t>Working Principle of DHT11 Sensor :</a:t>
            </a:r>
          </a:p>
          <a:p>
            <a:pPr algn="just"/>
            <a:endParaRPr lang="en-US" altLang="en-US" b="1" dirty="0">
              <a:solidFill>
                <a:srgbClr val="FFFF00"/>
              </a:solidFill>
              <a:latin typeface="Goudy Old Style" panose="02020502050305020303" pitchFamily="18" charset="0"/>
            </a:endParaRPr>
          </a:p>
          <a:p>
            <a:pPr algn="just"/>
            <a:r>
              <a:rPr lang="en-US" altLang="en-US" dirty="0">
                <a:solidFill>
                  <a:schemeClr val="accent1">
                    <a:lumMod val="40000"/>
                    <a:lumOff val="60000"/>
                  </a:schemeClr>
                </a:solidFill>
                <a:latin typeface="Goudy Old Style" panose="02020502050305020303" pitchFamily="18" charset="0"/>
              </a:rPr>
              <a:t>DHT11 sensor consists of a capacitive humidity sensing element and a thermistor for sensing temperature.</a:t>
            </a:r>
            <a:r>
              <a:rPr lang="" altLang="en-US" dirty="0">
                <a:solidFill>
                  <a:schemeClr val="accent1">
                    <a:lumMod val="40000"/>
                    <a:lumOff val="60000"/>
                  </a:schemeClr>
                </a:solidFill>
                <a:latin typeface="Goudy Old Style" panose="02020502050305020303" pitchFamily="18" charset="0"/>
              </a:rPr>
              <a:t> </a:t>
            </a:r>
            <a:r>
              <a:rPr lang="en-US" altLang="en-US" dirty="0">
                <a:solidFill>
                  <a:schemeClr val="accent1">
                    <a:lumMod val="40000"/>
                    <a:lumOff val="60000"/>
                  </a:schemeClr>
                </a:solidFill>
                <a:latin typeface="Goudy Old Style" panose="02020502050305020303" pitchFamily="18" charset="0"/>
              </a:rPr>
              <a:t> The humidity sensing</a:t>
            </a:r>
            <a:r>
              <a:rPr lang="" altLang="en-US" dirty="0">
                <a:solidFill>
                  <a:schemeClr val="accent1">
                    <a:lumMod val="40000"/>
                    <a:lumOff val="60000"/>
                  </a:schemeClr>
                </a:solidFill>
                <a:latin typeface="Goudy Old Style" panose="02020502050305020303" pitchFamily="18" charset="0"/>
              </a:rPr>
              <a:t> </a:t>
            </a:r>
            <a:r>
              <a:rPr lang="en-US" altLang="en-US" dirty="0">
                <a:solidFill>
                  <a:schemeClr val="accent1">
                    <a:lumMod val="40000"/>
                    <a:lumOff val="60000"/>
                  </a:schemeClr>
                </a:solidFill>
                <a:latin typeface="Goudy Old Style" panose="02020502050305020303" pitchFamily="18" charset="0"/>
              </a:rPr>
              <a:t>capacitor</a:t>
            </a:r>
            <a:r>
              <a:rPr lang="" altLang="en-US" dirty="0">
                <a:solidFill>
                  <a:schemeClr val="accent1">
                    <a:lumMod val="40000"/>
                    <a:lumOff val="60000"/>
                  </a:schemeClr>
                </a:solidFill>
                <a:latin typeface="Goudy Old Style" panose="02020502050305020303" pitchFamily="18" charset="0"/>
              </a:rPr>
              <a:t> </a:t>
            </a:r>
            <a:r>
              <a:rPr lang="en-US" altLang="en-US" dirty="0">
                <a:solidFill>
                  <a:schemeClr val="accent1">
                    <a:lumMod val="40000"/>
                    <a:lumOff val="60000"/>
                  </a:schemeClr>
                </a:solidFill>
                <a:latin typeface="Goudy Old Style" panose="02020502050305020303" pitchFamily="18" charset="0"/>
              </a:rPr>
              <a:t>has two electrodes with a moisture holding substrate as a dielectric between them. Change in the capacitance value occurs with the change in humidity levels. The IC measure, process this changed resistance values and change them into digital form.</a:t>
            </a:r>
          </a:p>
          <a:p>
            <a:pPr algn="just"/>
            <a:endParaRPr lang="en-US" altLang="en-US" dirty="0">
              <a:solidFill>
                <a:schemeClr val="accent1">
                  <a:lumMod val="40000"/>
                  <a:lumOff val="60000"/>
                </a:schemeClr>
              </a:solidFill>
              <a:latin typeface="Goudy Old Style" panose="02020502050305020303" pitchFamily="18" charset="0"/>
            </a:endParaRPr>
          </a:p>
          <a:p>
            <a:pPr algn="just"/>
            <a:r>
              <a:rPr lang="en-US" altLang="en-US" dirty="0">
                <a:solidFill>
                  <a:schemeClr val="accent1">
                    <a:lumMod val="40000"/>
                    <a:lumOff val="60000"/>
                  </a:schemeClr>
                </a:solidFill>
                <a:latin typeface="Goudy Old Style" panose="02020502050305020303" pitchFamily="18" charset="0"/>
              </a:rPr>
              <a:t>For measuring temperature this sensor uses a Negative Temperature coefficient thermistor, which causes a decrease in its resistance value with increase in temperature. To get larger resistance value even for the smallest change in temperature, this sensor is usually made up of semiconductor ceramics or polymers.</a:t>
            </a:r>
          </a:p>
          <a:p>
            <a:pPr algn="just"/>
            <a:endParaRPr lang="en-US" altLang="en-US" dirty="0">
              <a:solidFill>
                <a:schemeClr val="accent1">
                  <a:lumMod val="40000"/>
                  <a:lumOff val="60000"/>
                </a:schemeClr>
              </a:solidFill>
              <a:latin typeface="Goudy Old Style" panose="02020502050305020303" pitchFamily="18" charset="0"/>
            </a:endParaRPr>
          </a:p>
          <a:p>
            <a:pPr algn="just"/>
            <a:r>
              <a:rPr lang="en-US" altLang="en-US" dirty="0">
                <a:solidFill>
                  <a:schemeClr val="accent1">
                    <a:lumMod val="40000"/>
                    <a:lumOff val="60000"/>
                  </a:schemeClr>
                </a:solidFill>
                <a:latin typeface="Goudy Old Style" panose="02020502050305020303" pitchFamily="18" charset="0"/>
              </a:rPr>
              <a:t>The temperature range of DHT11 is from 0 to 50 degree Celsius with a 2–degree accuracy. Humidity range of this sensor is from 20 to 80% with 5% accuracy. The sampling rate of this sensor is 1Hz .i.e. it gives one reading for every second. </a:t>
            </a:r>
            <a:r>
              <a:rPr lang="" altLang="en-US" dirty="0">
                <a:solidFill>
                  <a:schemeClr val="accent1">
                    <a:lumMod val="40000"/>
                    <a:lumOff val="60000"/>
                  </a:schemeClr>
                </a:solidFill>
                <a:latin typeface="Goudy Old Style" panose="02020502050305020303" pitchFamily="18" charset="0"/>
              </a:rPr>
              <a:t> </a:t>
            </a:r>
            <a:r>
              <a:rPr lang="en-US" altLang="en-US" dirty="0">
                <a:solidFill>
                  <a:schemeClr val="accent1">
                    <a:lumMod val="40000"/>
                    <a:lumOff val="60000"/>
                  </a:schemeClr>
                </a:solidFill>
                <a:latin typeface="Goudy Old Style" panose="02020502050305020303" pitchFamily="18" charset="0"/>
              </a:rPr>
              <a:t>DHT11 is small in size with operating voltage from 3 to 5 volts. The maximum current used while measuring is 2.5mA.</a:t>
            </a:r>
          </a:p>
        </p:txBody>
      </p:sp>
      <p:pic>
        <p:nvPicPr>
          <p:cNvPr id="8" name="Picture 3" descr="IMG_256">
            <a:extLst>
              <a:ext uri="{FF2B5EF4-FFF2-40B4-BE49-F238E27FC236}">
                <a16:creationId xmlns:a16="http://schemas.microsoft.com/office/drawing/2014/main" id="{33D446AA-2179-CD31-0C90-CC98F86AD4A6}"/>
              </a:ext>
            </a:extLst>
          </p:cNvPr>
          <p:cNvPicPr>
            <a:picLocks noChangeAspect="1"/>
          </p:cNvPicPr>
          <p:nvPr/>
        </p:nvPicPr>
        <p:blipFill>
          <a:blip r:embed="rId2"/>
          <a:srcRect l="4172" t="1646" r="2214"/>
          <a:stretch>
            <a:fillRect/>
          </a:stretch>
        </p:blipFill>
        <p:spPr>
          <a:xfrm>
            <a:off x="8432276" y="1501629"/>
            <a:ext cx="2541865" cy="4280030"/>
          </a:xfrm>
          <a:prstGeom prst="rect">
            <a:avLst/>
          </a:prstGeom>
          <a:noFill/>
          <a:ln w="31750">
            <a:solidFill>
              <a:schemeClr val="bg1"/>
            </a:solidFill>
          </a:ln>
          <a:effectLst>
            <a:glow rad="101600">
              <a:schemeClr val="accent1">
                <a:satMod val="175000"/>
                <a:alpha val="40000"/>
              </a:schemeClr>
            </a:glow>
          </a:effectLst>
        </p:spPr>
      </p:pic>
      <p:sp>
        <p:nvSpPr>
          <p:cNvPr id="10" name="TextBox 9">
            <a:extLst>
              <a:ext uri="{FF2B5EF4-FFF2-40B4-BE49-F238E27FC236}">
                <a16:creationId xmlns:a16="http://schemas.microsoft.com/office/drawing/2014/main" id="{E13055C1-0D89-3958-B59C-2FDDE6D14255}"/>
              </a:ext>
            </a:extLst>
          </p:cNvPr>
          <p:cNvSpPr txBox="1"/>
          <p:nvPr/>
        </p:nvSpPr>
        <p:spPr>
          <a:xfrm>
            <a:off x="8864551" y="5997102"/>
            <a:ext cx="1538906" cy="369332"/>
          </a:xfrm>
          <a:prstGeom prst="rect">
            <a:avLst/>
          </a:prstGeom>
          <a:noFill/>
        </p:spPr>
        <p:txBody>
          <a:bodyPr wrap="square">
            <a:spAutoFit/>
          </a:bodyPr>
          <a:lstStyle/>
          <a:p>
            <a:r>
              <a:rPr lang="en-US" i="1" dirty="0">
                <a:solidFill>
                  <a:srgbClr val="FFFF00"/>
                </a:solidFill>
                <a:latin typeface="Bookman Old Style" panose="02050604050505020204" pitchFamily="18" charset="0"/>
              </a:rPr>
              <a:t>Pin Diagram</a:t>
            </a:r>
            <a:endParaRPr lang="en-US" i="1" dirty="0">
              <a:solidFill>
                <a:schemeClr val="accent1">
                  <a:lumMod val="40000"/>
                  <a:lumOff val="60000"/>
                </a:schemeClr>
              </a:solidFill>
              <a:latin typeface="Bookman Old Style" panose="02050604050505020204" pitchFamily="18" charset="0"/>
            </a:endParaRPr>
          </a:p>
        </p:txBody>
      </p:sp>
    </p:spTree>
    <p:extLst>
      <p:ext uri="{BB962C8B-B14F-4D97-AF65-F5344CB8AC3E}">
        <p14:creationId xmlns:p14="http://schemas.microsoft.com/office/powerpoint/2010/main" val="673886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F1DCE5-48F2-793A-0FF6-923CE0201255}"/>
              </a:ext>
            </a:extLst>
          </p:cNvPr>
          <p:cNvSpPr txBox="1"/>
          <p:nvPr/>
        </p:nvSpPr>
        <p:spPr>
          <a:xfrm>
            <a:off x="1045802" y="301376"/>
            <a:ext cx="9826330"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cs typeface="Verdana"/>
              </a:rPr>
              <a:t>RAIN SENSOR</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B3C6368E-1E96-75A2-E869-F4E3E4175EC1}"/>
              </a:ext>
            </a:extLst>
          </p:cNvPr>
          <p:cNvSpPr txBox="1"/>
          <p:nvPr/>
        </p:nvSpPr>
        <p:spPr>
          <a:xfrm>
            <a:off x="1045802" y="1199527"/>
            <a:ext cx="6084840" cy="3693319"/>
          </a:xfrm>
          <a:prstGeom prst="rect">
            <a:avLst/>
          </a:prstGeom>
          <a:noFill/>
        </p:spPr>
        <p:txBody>
          <a:bodyPr wrap="square">
            <a:spAutoFit/>
          </a:bodyPr>
          <a:lstStyle/>
          <a:p>
            <a:pPr algn="just"/>
            <a:r>
              <a:rPr lang="en-US" altLang="en-US" b="1" dirty="0">
                <a:solidFill>
                  <a:srgbClr val="FFFF00"/>
                </a:solidFill>
                <a:latin typeface="Goudy Old Style" panose="02020502050305020303" pitchFamily="18" charset="0"/>
              </a:rPr>
              <a:t>Working Principle of Rain Sensor :</a:t>
            </a:r>
          </a:p>
          <a:p>
            <a:pPr algn="just"/>
            <a:endParaRPr lang="en-US" altLang="en-US" b="1" dirty="0">
              <a:solidFill>
                <a:srgbClr val="FFFF00"/>
              </a:solidFill>
              <a:latin typeface="Goudy Old Style" panose="02020502050305020303" pitchFamily="18" charset="0"/>
            </a:endParaRPr>
          </a:p>
          <a:p>
            <a:pPr algn="just"/>
            <a:r>
              <a:rPr lang="en-US" altLang="en-US" dirty="0">
                <a:solidFill>
                  <a:schemeClr val="accent1">
                    <a:lumMod val="40000"/>
                    <a:lumOff val="60000"/>
                  </a:schemeClr>
                </a:solidFill>
                <a:latin typeface="Goudy Old Style" panose="02020502050305020303" pitchFamily="18" charset="0"/>
              </a:rPr>
              <a:t>A rain sensor operates using a conductive material grid or parallel wires, leveraging the conductivity of water for detection. When raindrops fall on the sensing element, they form bridges between conductive pathways, altering electrical resistance or causing a short circuit, which is then detected by an electronic circuit.</a:t>
            </a:r>
          </a:p>
          <a:p>
            <a:pPr algn="just"/>
            <a:endParaRPr lang="en-US" altLang="en-US" dirty="0">
              <a:solidFill>
                <a:schemeClr val="accent1">
                  <a:lumMod val="40000"/>
                  <a:lumOff val="60000"/>
                </a:schemeClr>
              </a:solidFill>
              <a:latin typeface="Goudy Old Style" panose="02020502050305020303" pitchFamily="18" charset="0"/>
            </a:endParaRPr>
          </a:p>
          <a:p>
            <a:pPr algn="just"/>
            <a:r>
              <a:rPr lang="en-US" altLang="en-US" dirty="0">
                <a:solidFill>
                  <a:schemeClr val="accent1">
                    <a:lumMod val="40000"/>
                    <a:lumOff val="60000"/>
                  </a:schemeClr>
                </a:solidFill>
                <a:latin typeface="Goudy Old Style" panose="02020502050305020303" pitchFamily="18" charset="0"/>
              </a:rPr>
              <a:t>The sensor’s signal processing involves a microcontroller or integrated circuit, which translates changes in resistance into either a digital or analog output. If rain is detected, the signal state changes, typically switching from high to low.</a:t>
            </a:r>
          </a:p>
        </p:txBody>
      </p:sp>
      <p:sp>
        <p:nvSpPr>
          <p:cNvPr id="9" name="TextBox 8">
            <a:extLst>
              <a:ext uri="{FF2B5EF4-FFF2-40B4-BE49-F238E27FC236}">
                <a16:creationId xmlns:a16="http://schemas.microsoft.com/office/drawing/2014/main" id="{204D9BBB-9BD4-B198-9C02-D88085B9E7CE}"/>
              </a:ext>
            </a:extLst>
          </p:cNvPr>
          <p:cNvSpPr txBox="1"/>
          <p:nvPr/>
        </p:nvSpPr>
        <p:spPr>
          <a:xfrm>
            <a:off x="11442583" y="5781659"/>
            <a:ext cx="749417"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⟮8⟯</a:t>
            </a:r>
          </a:p>
        </p:txBody>
      </p:sp>
      <p:pic>
        <p:nvPicPr>
          <p:cNvPr id="10" name="Picture 13" descr="rain-sensor">
            <a:extLst>
              <a:ext uri="{FF2B5EF4-FFF2-40B4-BE49-F238E27FC236}">
                <a16:creationId xmlns:a16="http://schemas.microsoft.com/office/drawing/2014/main" id="{C09BC2BD-329D-4EED-E49A-BA3F3BEEEF04}"/>
              </a:ext>
            </a:extLst>
          </p:cNvPr>
          <p:cNvPicPr>
            <a:picLocks noChangeAspect="1"/>
          </p:cNvPicPr>
          <p:nvPr/>
        </p:nvPicPr>
        <p:blipFill>
          <a:blip r:embed="rId2"/>
          <a:srcRect l="2198" b="3866"/>
          <a:stretch>
            <a:fillRect/>
          </a:stretch>
        </p:blipFill>
        <p:spPr>
          <a:xfrm>
            <a:off x="7552239" y="1881231"/>
            <a:ext cx="3351054" cy="2944535"/>
          </a:xfrm>
          <a:prstGeom prst="rect">
            <a:avLst/>
          </a:prstGeom>
          <a:ln w="31750">
            <a:solidFill>
              <a:schemeClr val="bg1"/>
            </a:solidFill>
          </a:ln>
          <a:effectLst>
            <a:glow rad="101600">
              <a:schemeClr val="accent1">
                <a:satMod val="175000"/>
                <a:alpha val="40000"/>
              </a:schemeClr>
            </a:glow>
          </a:effectLst>
        </p:spPr>
      </p:pic>
      <p:sp>
        <p:nvSpPr>
          <p:cNvPr id="11" name="TextBox 10">
            <a:extLst>
              <a:ext uri="{FF2B5EF4-FFF2-40B4-BE49-F238E27FC236}">
                <a16:creationId xmlns:a16="http://schemas.microsoft.com/office/drawing/2014/main" id="{24CD1CF7-9627-2E42-8524-D787F52C109E}"/>
              </a:ext>
            </a:extLst>
          </p:cNvPr>
          <p:cNvSpPr txBox="1"/>
          <p:nvPr/>
        </p:nvSpPr>
        <p:spPr>
          <a:xfrm>
            <a:off x="8585946" y="5016031"/>
            <a:ext cx="1283639" cy="369332"/>
          </a:xfrm>
          <a:prstGeom prst="rect">
            <a:avLst/>
          </a:prstGeom>
          <a:noFill/>
        </p:spPr>
        <p:txBody>
          <a:bodyPr wrap="square">
            <a:spAutoFit/>
          </a:bodyPr>
          <a:lstStyle/>
          <a:p>
            <a:r>
              <a:rPr lang="en-US" i="1" dirty="0">
                <a:solidFill>
                  <a:srgbClr val="FFFF00"/>
                </a:solidFill>
                <a:latin typeface="Bookman Old Style" panose="02050604050505020204" pitchFamily="18" charset="0"/>
              </a:rPr>
              <a:t>Diagram</a:t>
            </a:r>
            <a:endParaRPr lang="en-US" i="1" dirty="0">
              <a:solidFill>
                <a:schemeClr val="accent1">
                  <a:lumMod val="40000"/>
                  <a:lumOff val="60000"/>
                </a:schemeClr>
              </a:solidFill>
              <a:latin typeface="Bookman Old Style" panose="02050604050505020204" pitchFamily="18" charset="0"/>
            </a:endParaRPr>
          </a:p>
        </p:txBody>
      </p:sp>
    </p:spTree>
    <p:extLst>
      <p:ext uri="{BB962C8B-B14F-4D97-AF65-F5344CB8AC3E}">
        <p14:creationId xmlns:p14="http://schemas.microsoft.com/office/powerpoint/2010/main" val="2809003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ABB25-DA7D-8D03-5617-C973316239A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CCB986-C98C-4794-9131-8E3F0D9FACEA}"/>
              </a:ext>
            </a:extLst>
          </p:cNvPr>
          <p:cNvSpPr txBox="1"/>
          <p:nvPr/>
        </p:nvSpPr>
        <p:spPr>
          <a:xfrm>
            <a:off x="1045802" y="269605"/>
            <a:ext cx="9826330"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cs typeface="Verdana"/>
              </a:rPr>
              <a:t>LDR SENSOR</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3" name="TextBox 2">
            <a:extLst>
              <a:ext uri="{FF2B5EF4-FFF2-40B4-BE49-F238E27FC236}">
                <a16:creationId xmlns:a16="http://schemas.microsoft.com/office/drawing/2014/main" id="{0FA5F301-7C6E-57F3-CC01-C760D61D0330}"/>
              </a:ext>
            </a:extLst>
          </p:cNvPr>
          <p:cNvSpPr txBox="1"/>
          <p:nvPr/>
        </p:nvSpPr>
        <p:spPr>
          <a:xfrm>
            <a:off x="1045802" y="1199527"/>
            <a:ext cx="5640224" cy="5078313"/>
          </a:xfrm>
          <a:prstGeom prst="rect">
            <a:avLst/>
          </a:prstGeom>
          <a:noFill/>
        </p:spPr>
        <p:txBody>
          <a:bodyPr wrap="square">
            <a:spAutoFit/>
          </a:bodyPr>
          <a:lstStyle/>
          <a:p>
            <a:pPr algn="just"/>
            <a:r>
              <a:rPr lang="en-US" altLang="en-US" b="1" dirty="0">
                <a:solidFill>
                  <a:srgbClr val="FFFF00"/>
                </a:solidFill>
                <a:latin typeface="Goudy Old Style" panose="02020502050305020303" pitchFamily="18" charset="0"/>
              </a:rPr>
              <a:t>Working Principle of LDR Sensor :</a:t>
            </a:r>
          </a:p>
          <a:p>
            <a:pPr algn="just"/>
            <a:endParaRPr lang="en-US" altLang="en-US" b="1" dirty="0">
              <a:solidFill>
                <a:srgbClr val="FFFF00"/>
              </a:solidFill>
              <a:latin typeface="Goudy Old Style" panose="02020502050305020303" pitchFamily="18" charset="0"/>
            </a:endParaRPr>
          </a:p>
          <a:p>
            <a:pPr algn="just"/>
            <a:r>
              <a:rPr lang="en-US" altLang="en-US" dirty="0">
                <a:solidFill>
                  <a:schemeClr val="accent1">
                    <a:lumMod val="40000"/>
                    <a:lumOff val="60000"/>
                  </a:schemeClr>
                </a:solidFill>
                <a:latin typeface="Goudy Old Style" panose="02020502050305020303" pitchFamily="18" charset="0"/>
              </a:rPr>
              <a:t>LDR stands for Light Dependent Resistor. The working principle of an LDR is photoconductivity, which is nothing but an optical phenomenon. When the light is absorbed by the material then the conductivity of the material enhances. When the light falls on the LDR, then the electrons in the valence band of the material are eager to the conduction band.</a:t>
            </a:r>
          </a:p>
          <a:p>
            <a:pPr algn="just"/>
            <a:endParaRPr lang="en-US" altLang="en-US" dirty="0">
              <a:solidFill>
                <a:schemeClr val="accent1">
                  <a:lumMod val="40000"/>
                  <a:lumOff val="60000"/>
                </a:schemeClr>
              </a:solidFill>
              <a:latin typeface="Goudy Old Style" panose="02020502050305020303" pitchFamily="18" charset="0"/>
            </a:endParaRPr>
          </a:p>
          <a:p>
            <a:pPr algn="just"/>
            <a:r>
              <a:rPr lang="en-US" altLang="en-US" dirty="0">
                <a:solidFill>
                  <a:schemeClr val="accent1">
                    <a:lumMod val="40000"/>
                    <a:lumOff val="60000"/>
                  </a:schemeClr>
                </a:solidFill>
                <a:latin typeface="Goudy Old Style" panose="02020502050305020303" pitchFamily="18" charset="0"/>
              </a:rPr>
              <a:t> But, the photons in the incident light must have energy superior to the bandgap of the material to make the electrons jump from one band to another band (valance to conduction). Hence, when light having ample energy, more electrons are excited to the conduction band which grades in a large number of charge carriers. When the effect of this process and the flow of the current starts flowing more, the resistance of the device decreases.</a:t>
            </a:r>
          </a:p>
        </p:txBody>
      </p:sp>
      <p:pic>
        <p:nvPicPr>
          <p:cNvPr id="5" name="Picture 17" descr="Light-Dependent-Resistor-400x250">
            <a:extLst>
              <a:ext uri="{FF2B5EF4-FFF2-40B4-BE49-F238E27FC236}">
                <a16:creationId xmlns:a16="http://schemas.microsoft.com/office/drawing/2014/main" id="{3522CD2E-532A-6CC8-7CD1-8E21A7948E01}"/>
              </a:ext>
            </a:extLst>
          </p:cNvPr>
          <p:cNvPicPr>
            <a:picLocks noChangeAspect="1"/>
          </p:cNvPicPr>
          <p:nvPr/>
        </p:nvPicPr>
        <p:blipFill>
          <a:blip r:embed="rId2"/>
          <a:srcRect l="7162" t="1570" r="4090" b="4621"/>
          <a:stretch>
            <a:fillRect/>
          </a:stretch>
        </p:blipFill>
        <p:spPr>
          <a:xfrm>
            <a:off x="7160004" y="2522279"/>
            <a:ext cx="3674378" cy="2432808"/>
          </a:xfrm>
          <a:prstGeom prst="rect">
            <a:avLst/>
          </a:prstGeom>
          <a:ln w="31750">
            <a:solidFill>
              <a:schemeClr val="bg1"/>
            </a:solidFill>
          </a:ln>
          <a:effectLst>
            <a:glow rad="101600">
              <a:schemeClr val="accent1">
                <a:satMod val="175000"/>
                <a:alpha val="40000"/>
              </a:schemeClr>
            </a:glow>
          </a:effectLst>
        </p:spPr>
      </p:pic>
      <p:sp>
        <p:nvSpPr>
          <p:cNvPr id="7" name="TextBox 6">
            <a:extLst>
              <a:ext uri="{FF2B5EF4-FFF2-40B4-BE49-F238E27FC236}">
                <a16:creationId xmlns:a16="http://schemas.microsoft.com/office/drawing/2014/main" id="{4163959A-3EA4-5FAE-25CE-CBD1F4735FAC}"/>
              </a:ext>
            </a:extLst>
          </p:cNvPr>
          <p:cNvSpPr txBox="1"/>
          <p:nvPr/>
        </p:nvSpPr>
        <p:spPr>
          <a:xfrm>
            <a:off x="8355373" y="5074754"/>
            <a:ext cx="1283639" cy="369332"/>
          </a:xfrm>
          <a:prstGeom prst="rect">
            <a:avLst/>
          </a:prstGeom>
          <a:noFill/>
        </p:spPr>
        <p:txBody>
          <a:bodyPr wrap="square">
            <a:spAutoFit/>
          </a:bodyPr>
          <a:lstStyle/>
          <a:p>
            <a:r>
              <a:rPr lang="en-US" i="1" dirty="0">
                <a:solidFill>
                  <a:srgbClr val="FFFF00"/>
                </a:solidFill>
                <a:latin typeface="Bookman Old Style" panose="02050604050505020204" pitchFamily="18" charset="0"/>
              </a:rPr>
              <a:t>Diagram</a:t>
            </a:r>
            <a:endParaRPr lang="en-US" i="1" dirty="0">
              <a:solidFill>
                <a:schemeClr val="accent1">
                  <a:lumMod val="40000"/>
                  <a:lumOff val="60000"/>
                </a:schemeClr>
              </a:solidFill>
              <a:latin typeface="Bookman Old Style" panose="02050604050505020204" pitchFamily="18" charset="0"/>
            </a:endParaRPr>
          </a:p>
        </p:txBody>
      </p:sp>
      <p:sp>
        <p:nvSpPr>
          <p:cNvPr id="4" name="TextBox 3">
            <a:extLst>
              <a:ext uri="{FF2B5EF4-FFF2-40B4-BE49-F238E27FC236}">
                <a16:creationId xmlns:a16="http://schemas.microsoft.com/office/drawing/2014/main" id="{02272F68-4F7F-3509-5A40-1B9A65700435}"/>
              </a:ext>
            </a:extLst>
          </p:cNvPr>
          <p:cNvSpPr txBox="1"/>
          <p:nvPr/>
        </p:nvSpPr>
        <p:spPr>
          <a:xfrm>
            <a:off x="11442583" y="5781659"/>
            <a:ext cx="749417"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⟮9⟯</a:t>
            </a:r>
          </a:p>
        </p:txBody>
      </p:sp>
    </p:spTree>
    <p:extLst>
      <p:ext uri="{BB962C8B-B14F-4D97-AF65-F5344CB8AC3E}">
        <p14:creationId xmlns:p14="http://schemas.microsoft.com/office/powerpoint/2010/main" val="3720629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D4FA5-A60C-8998-0868-1C6D9F2021C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D72600-22B9-C00F-5578-D915BA6CAE18}"/>
              </a:ext>
            </a:extLst>
          </p:cNvPr>
          <p:cNvSpPr txBox="1"/>
          <p:nvPr/>
        </p:nvSpPr>
        <p:spPr>
          <a:xfrm>
            <a:off x="1045802" y="269605"/>
            <a:ext cx="9826330"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cs typeface="Verdana"/>
              </a:rPr>
              <a:t>MQ135 SENSOR</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A8BEBBA9-F16D-4FE4-65B2-79225DB63C61}"/>
              </a:ext>
            </a:extLst>
          </p:cNvPr>
          <p:cNvSpPr txBox="1"/>
          <p:nvPr/>
        </p:nvSpPr>
        <p:spPr>
          <a:xfrm>
            <a:off x="11308360" y="5823604"/>
            <a:ext cx="959141"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⟮10⟯</a:t>
            </a:r>
          </a:p>
        </p:txBody>
      </p:sp>
      <p:sp>
        <p:nvSpPr>
          <p:cNvPr id="3" name="TextBox 2">
            <a:extLst>
              <a:ext uri="{FF2B5EF4-FFF2-40B4-BE49-F238E27FC236}">
                <a16:creationId xmlns:a16="http://schemas.microsoft.com/office/drawing/2014/main" id="{03D6897A-C03B-CD2C-AD67-4C27213F5155}"/>
              </a:ext>
            </a:extLst>
          </p:cNvPr>
          <p:cNvSpPr txBox="1"/>
          <p:nvPr/>
        </p:nvSpPr>
        <p:spPr>
          <a:xfrm>
            <a:off x="1045802" y="1199527"/>
            <a:ext cx="5640224" cy="5770811"/>
          </a:xfrm>
          <a:prstGeom prst="rect">
            <a:avLst/>
          </a:prstGeom>
          <a:noFill/>
        </p:spPr>
        <p:txBody>
          <a:bodyPr wrap="square">
            <a:spAutoFit/>
          </a:bodyPr>
          <a:lstStyle/>
          <a:p>
            <a:r>
              <a:rPr lang="en-US" altLang="en-US" b="1" dirty="0">
                <a:solidFill>
                  <a:srgbClr val="FFFF00"/>
                </a:solidFill>
                <a:latin typeface="Goudy Old Style" panose="02020502050305020303" pitchFamily="18" charset="0"/>
              </a:rPr>
              <a:t>Working Principle of MQ135 Sensor :</a:t>
            </a:r>
          </a:p>
          <a:p>
            <a:endParaRPr lang="en-US" altLang="en-US" b="1" dirty="0">
              <a:solidFill>
                <a:srgbClr val="FFFF00"/>
              </a:solidFill>
              <a:latin typeface="Goudy Old Style" panose="02020502050305020303" pitchFamily="18" charset="0"/>
            </a:endParaRPr>
          </a:p>
          <a:p>
            <a:pPr marL="342900" indent="-342900">
              <a:buFont typeface="+mj-lt"/>
              <a:buAutoNum type="arabicPeriod"/>
            </a:pPr>
            <a:r>
              <a:rPr lang="en-US" altLang="en-US" b="1" dirty="0">
                <a:solidFill>
                  <a:schemeClr val="accent5">
                    <a:lumMod val="60000"/>
                    <a:lumOff val="40000"/>
                  </a:schemeClr>
                </a:solidFill>
                <a:latin typeface="Goudy Old Style" panose="02020502050305020303" pitchFamily="18" charset="0"/>
              </a:rPr>
              <a:t>Pre–heating : </a:t>
            </a:r>
            <a:r>
              <a:rPr lang="en-US" altLang="en-US" dirty="0">
                <a:solidFill>
                  <a:schemeClr val="accent1">
                    <a:lumMod val="40000"/>
                    <a:lumOff val="60000"/>
                  </a:schemeClr>
                </a:solidFill>
                <a:latin typeface="Goudy Old Style" panose="02020502050305020303" pitchFamily="18" charset="0"/>
              </a:rPr>
              <a:t>Before operation, the MQ135 sensor requires a preheating phase of 20–30 seconds to reach 300</a:t>
            </a:r>
            <a:r>
              <a:rPr lang="" altLang="en-US" dirty="0">
                <a:solidFill>
                  <a:schemeClr val="accent1">
                    <a:lumMod val="40000"/>
                    <a:lumOff val="60000"/>
                  </a:schemeClr>
                </a:solidFill>
                <a:latin typeface="Goudy Old Style" panose="02020502050305020303" pitchFamily="18" charset="0"/>
              </a:rPr>
              <a:t>°</a:t>
            </a:r>
            <a:r>
              <a:rPr lang="en-US" altLang="en-US" dirty="0">
                <a:solidFill>
                  <a:schemeClr val="accent1">
                    <a:lumMod val="40000"/>
                    <a:lumOff val="60000"/>
                  </a:schemeClr>
                </a:solidFill>
                <a:latin typeface="Goudy Old Style" panose="02020502050305020303" pitchFamily="18" charset="0"/>
              </a:rPr>
              <a:t>C, maintained throughout its power cycle.</a:t>
            </a: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r>
              <a:rPr lang="en-US" altLang="en-US" b="1" dirty="0">
                <a:solidFill>
                  <a:schemeClr val="accent5">
                    <a:lumMod val="60000"/>
                    <a:lumOff val="40000"/>
                  </a:schemeClr>
                </a:solidFill>
                <a:latin typeface="Goudy Old Style" panose="02020502050305020303" pitchFamily="18" charset="0"/>
              </a:rPr>
              <a:t>Sensitivity Layer Formation : </a:t>
            </a:r>
            <a:r>
              <a:rPr lang="en-US" altLang="en-US" dirty="0">
                <a:solidFill>
                  <a:schemeClr val="accent1">
                    <a:lumMod val="40000"/>
                    <a:lumOff val="60000"/>
                  </a:schemeClr>
                </a:solidFill>
                <a:latin typeface="Goudy Old Style" panose="02020502050305020303" pitchFamily="18" charset="0"/>
              </a:rPr>
              <a:t>The tin dioxide sensing element absorbs oxygen, forming a resistant sensing layer that limits free electron interaction in pure air conditions.</a:t>
            </a: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r>
              <a:rPr lang="en-US" altLang="en-US" b="1" dirty="0">
                <a:solidFill>
                  <a:schemeClr val="accent5">
                    <a:lumMod val="60000"/>
                    <a:lumOff val="40000"/>
                  </a:schemeClr>
                </a:solidFill>
                <a:latin typeface="Goudy Old Style" panose="02020502050305020303" pitchFamily="18" charset="0"/>
              </a:rPr>
              <a:t>Gas Interaction : </a:t>
            </a:r>
            <a:r>
              <a:rPr lang="en-US" altLang="en-US" dirty="0">
                <a:solidFill>
                  <a:schemeClr val="accent1">
                    <a:lumMod val="40000"/>
                    <a:lumOff val="60000"/>
                  </a:schemeClr>
                </a:solidFill>
                <a:latin typeface="Goudy Old Style" panose="02020502050305020303" pitchFamily="18" charset="0"/>
              </a:rPr>
              <a:t>When target gases like smoke or ammonia are present, they disrupt the sensing layer, increasing electrical conductance.</a:t>
            </a: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r>
              <a:rPr lang="en-US" altLang="en-US" b="1" dirty="0">
                <a:solidFill>
                  <a:schemeClr val="accent5">
                    <a:lumMod val="60000"/>
                    <a:lumOff val="40000"/>
                  </a:schemeClr>
                </a:solidFill>
                <a:latin typeface="Goudy Old Style" panose="02020502050305020303" pitchFamily="18" charset="0"/>
              </a:rPr>
              <a:t>Analog Output Generation : </a:t>
            </a:r>
            <a:r>
              <a:rPr lang="en-US" altLang="en-US" dirty="0">
                <a:solidFill>
                  <a:schemeClr val="accent1">
                    <a:lumMod val="40000"/>
                    <a:lumOff val="60000"/>
                  </a:schemeClr>
                </a:solidFill>
                <a:latin typeface="Goudy Old Style" panose="02020502050305020303" pitchFamily="18" charset="0"/>
              </a:rPr>
              <a:t>A higher gas concentration results in higher analog signal values, which are processed by microcontrollers for environmental monitoring.</a:t>
            </a:r>
          </a:p>
          <a:p>
            <a:endParaRPr lang="en-US" altLang="en-US" dirty="0">
              <a:solidFill>
                <a:schemeClr val="accent1">
                  <a:lumMod val="40000"/>
                  <a:lumOff val="60000"/>
                </a:schemeClr>
              </a:solidFill>
              <a:latin typeface="Goudy Old Style" panose="02020502050305020303" pitchFamily="18" charset="0"/>
            </a:endParaRPr>
          </a:p>
          <a:p>
            <a:r>
              <a:rPr lang="en-US" altLang="en-US" dirty="0">
                <a:solidFill>
                  <a:schemeClr val="accent1">
                    <a:lumMod val="40000"/>
                    <a:lumOff val="60000"/>
                  </a:schemeClr>
                </a:solidFill>
                <a:latin typeface="Goudy Old Style" panose="02020502050305020303" pitchFamily="18" charset="0"/>
              </a:rPr>
              <a:t>This real–time air quality sensor effectively detects pollutants and aids in atmospheric analysis for smart environments.</a:t>
            </a:r>
          </a:p>
        </p:txBody>
      </p:sp>
      <p:sp>
        <p:nvSpPr>
          <p:cNvPr id="7" name="TextBox 6">
            <a:extLst>
              <a:ext uri="{FF2B5EF4-FFF2-40B4-BE49-F238E27FC236}">
                <a16:creationId xmlns:a16="http://schemas.microsoft.com/office/drawing/2014/main" id="{2B1DEB09-8E31-D9A7-93EF-66448B621AC0}"/>
              </a:ext>
            </a:extLst>
          </p:cNvPr>
          <p:cNvSpPr txBox="1"/>
          <p:nvPr/>
        </p:nvSpPr>
        <p:spPr>
          <a:xfrm>
            <a:off x="8456041" y="5746659"/>
            <a:ext cx="1283639" cy="369332"/>
          </a:xfrm>
          <a:prstGeom prst="rect">
            <a:avLst/>
          </a:prstGeom>
          <a:noFill/>
        </p:spPr>
        <p:txBody>
          <a:bodyPr wrap="square">
            <a:spAutoFit/>
          </a:bodyPr>
          <a:lstStyle/>
          <a:p>
            <a:r>
              <a:rPr lang="en-US" i="1" dirty="0">
                <a:solidFill>
                  <a:srgbClr val="FFFF00"/>
                </a:solidFill>
                <a:latin typeface="Bookman Old Style" panose="02050604050505020204" pitchFamily="18" charset="0"/>
              </a:rPr>
              <a:t>Diagram</a:t>
            </a:r>
            <a:endParaRPr lang="en-US" i="1" dirty="0">
              <a:solidFill>
                <a:schemeClr val="accent1">
                  <a:lumMod val="40000"/>
                  <a:lumOff val="60000"/>
                </a:schemeClr>
              </a:solidFill>
              <a:latin typeface="Bookman Old Style" panose="02050604050505020204" pitchFamily="18" charset="0"/>
            </a:endParaRPr>
          </a:p>
        </p:txBody>
      </p:sp>
      <p:pic>
        <p:nvPicPr>
          <p:cNvPr id="4" name="Picture 10" descr="IMG_256">
            <a:extLst>
              <a:ext uri="{FF2B5EF4-FFF2-40B4-BE49-F238E27FC236}">
                <a16:creationId xmlns:a16="http://schemas.microsoft.com/office/drawing/2014/main" id="{465F26CC-6F88-768C-8DA7-09FC91D6FC9D}"/>
              </a:ext>
            </a:extLst>
          </p:cNvPr>
          <p:cNvPicPr>
            <a:picLocks noChangeAspect="1"/>
          </p:cNvPicPr>
          <p:nvPr/>
        </p:nvPicPr>
        <p:blipFill>
          <a:blip r:embed="rId2"/>
          <a:stretch>
            <a:fillRect/>
          </a:stretch>
        </p:blipFill>
        <p:spPr>
          <a:xfrm>
            <a:off x="7508137" y="1984366"/>
            <a:ext cx="3179445" cy="3578860"/>
          </a:xfrm>
          <a:prstGeom prst="rect">
            <a:avLst/>
          </a:prstGeom>
          <a:noFill/>
          <a:ln w="31750">
            <a:solidFill>
              <a:schemeClr val="bg1"/>
            </a:solidFill>
          </a:ln>
          <a:effectLst>
            <a:glow rad="101600">
              <a:schemeClr val="accent1">
                <a:satMod val="175000"/>
                <a:alpha val="40000"/>
              </a:schemeClr>
            </a:glow>
          </a:effectLst>
        </p:spPr>
      </p:pic>
    </p:spTree>
    <p:extLst>
      <p:ext uri="{BB962C8B-B14F-4D97-AF65-F5344CB8AC3E}">
        <p14:creationId xmlns:p14="http://schemas.microsoft.com/office/powerpoint/2010/main" val="4124778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8308E-0AE3-9911-F2D0-496EA2D9A7A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E4B210-6A4A-C51B-61D6-04B1CB472D3D}"/>
              </a:ext>
            </a:extLst>
          </p:cNvPr>
          <p:cNvSpPr txBox="1"/>
          <p:nvPr/>
        </p:nvSpPr>
        <p:spPr>
          <a:xfrm>
            <a:off x="1045802" y="269605"/>
            <a:ext cx="9826330"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cs typeface="Verdana"/>
              </a:rPr>
              <a:t>BMP280 SENSOR</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FFB05239-E55B-493D-97A0-0ECD30499D0F}"/>
              </a:ext>
            </a:extLst>
          </p:cNvPr>
          <p:cNvSpPr txBox="1"/>
          <p:nvPr/>
        </p:nvSpPr>
        <p:spPr>
          <a:xfrm>
            <a:off x="11308360" y="5823604"/>
            <a:ext cx="959141"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⟮11⟯</a:t>
            </a:r>
          </a:p>
        </p:txBody>
      </p:sp>
      <p:sp>
        <p:nvSpPr>
          <p:cNvPr id="3" name="TextBox 2">
            <a:extLst>
              <a:ext uri="{FF2B5EF4-FFF2-40B4-BE49-F238E27FC236}">
                <a16:creationId xmlns:a16="http://schemas.microsoft.com/office/drawing/2014/main" id="{C1BAA26F-2E59-06BB-0793-ACB376FA90E3}"/>
              </a:ext>
            </a:extLst>
          </p:cNvPr>
          <p:cNvSpPr txBox="1"/>
          <p:nvPr/>
        </p:nvSpPr>
        <p:spPr>
          <a:xfrm>
            <a:off x="1045802" y="1199527"/>
            <a:ext cx="5917060" cy="5139869"/>
          </a:xfrm>
          <a:prstGeom prst="rect">
            <a:avLst/>
          </a:prstGeom>
          <a:noFill/>
        </p:spPr>
        <p:txBody>
          <a:bodyPr wrap="square">
            <a:spAutoFit/>
          </a:bodyPr>
          <a:lstStyle/>
          <a:p>
            <a:r>
              <a:rPr lang="en-US" altLang="en-US" b="1" dirty="0">
                <a:solidFill>
                  <a:srgbClr val="FFFF00"/>
                </a:solidFill>
                <a:latin typeface="Goudy Old Style" panose="02020502050305020303" pitchFamily="18" charset="0"/>
              </a:rPr>
              <a:t>Working Principle of BMP280 Sensor :</a:t>
            </a:r>
          </a:p>
          <a:p>
            <a:endParaRPr lang="en-US" altLang="en-US" b="1" dirty="0">
              <a:solidFill>
                <a:srgbClr val="FFFF00"/>
              </a:solidFill>
              <a:latin typeface="Goudy Old Style" panose="02020502050305020303" pitchFamily="18" charset="0"/>
            </a:endParaRPr>
          </a:p>
          <a:p>
            <a:pPr marL="285750" indent="-285750" algn="just">
              <a:buFont typeface="Wingdings" panose="05000000000000000000" pitchFamily="2" charset="2"/>
              <a:buChar char="Ø"/>
            </a:pPr>
            <a:r>
              <a:rPr lang="en-US" altLang="en-US" b="1" dirty="0">
                <a:solidFill>
                  <a:schemeClr val="accent5">
                    <a:lumMod val="60000"/>
                    <a:lumOff val="40000"/>
                  </a:schemeClr>
                </a:solidFill>
                <a:latin typeface="Goudy Old Style" panose="02020502050305020303" pitchFamily="18" charset="0"/>
              </a:rPr>
              <a:t>Pressure Measurement : </a:t>
            </a:r>
            <a:r>
              <a:rPr lang="en-US" dirty="0">
                <a:solidFill>
                  <a:schemeClr val="accent1">
                    <a:lumMod val="40000"/>
                    <a:lumOff val="60000"/>
                  </a:schemeClr>
                </a:solidFill>
                <a:latin typeface="Goudy Old Style" panose="02020502050305020303" pitchFamily="18" charset="0"/>
              </a:rPr>
              <a:t>The BMP280 measures atmospheric pressure by detecting the deflection of a silicon diaphragm. This deflection alters electrical resistance, which is amplified and processed by internal circuitry. Built–in algorithms calibrate the raw data, correcting for temperature effects and sensor–specific deviations.</a:t>
            </a:r>
            <a:endParaRPr lang="en-US" altLang="en-US" sz="100" dirty="0">
              <a:solidFill>
                <a:schemeClr val="accent1">
                  <a:lumMod val="40000"/>
                  <a:lumOff val="60000"/>
                </a:schemeClr>
              </a:solidFill>
              <a:latin typeface="Goudy Old Style" panose="02020502050305020303" pitchFamily="18" charset="0"/>
            </a:endParaRPr>
          </a:p>
          <a:p>
            <a:pPr marL="171450" indent="-171450" algn="just">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171450" indent="-171450" algn="just">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171450" indent="-171450" algn="just">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lgn="just">
              <a:buFont typeface="Wingdings" panose="05000000000000000000" pitchFamily="2" charset="2"/>
              <a:buChar char="Ø"/>
            </a:pPr>
            <a:r>
              <a:rPr lang="en-US" altLang="en-US" b="1" dirty="0">
                <a:solidFill>
                  <a:schemeClr val="accent5">
                    <a:lumMod val="60000"/>
                    <a:lumOff val="40000"/>
                  </a:schemeClr>
                </a:solidFill>
                <a:latin typeface="Goudy Old Style" panose="02020502050305020303" pitchFamily="18" charset="0"/>
              </a:rPr>
              <a:t>Temperature Measurement :</a:t>
            </a:r>
            <a:r>
              <a:rPr lang="en-US" altLang="en-US" dirty="0">
                <a:solidFill>
                  <a:schemeClr val="accent5">
                    <a:lumMod val="60000"/>
                    <a:lumOff val="40000"/>
                  </a:schemeClr>
                </a:solidFill>
                <a:latin typeface="Goudy Old Style" panose="02020502050305020303" pitchFamily="18" charset="0"/>
              </a:rPr>
              <a:t> </a:t>
            </a:r>
            <a:r>
              <a:rPr lang="en-US" dirty="0">
                <a:solidFill>
                  <a:schemeClr val="accent1">
                    <a:lumMod val="40000"/>
                    <a:lumOff val="60000"/>
                  </a:schemeClr>
                </a:solidFill>
                <a:latin typeface="Goudy Old Style" panose="02020502050305020303" pitchFamily="18" charset="0"/>
              </a:rPr>
              <a:t>A thermistor measures temperature by sensing resistance changes caused by heat. These readings are converted into temperature values and also used to improve pressure measurement accuracy through compensation.</a:t>
            </a:r>
            <a:endParaRPr lang="en-US" altLang="en-US" sz="100" dirty="0">
              <a:solidFill>
                <a:schemeClr val="accent1">
                  <a:lumMod val="40000"/>
                  <a:lumOff val="60000"/>
                </a:schemeClr>
              </a:solidFill>
              <a:latin typeface="Goudy Old Style" panose="02020502050305020303" pitchFamily="18" charset="0"/>
            </a:endParaRPr>
          </a:p>
          <a:p>
            <a:pPr marL="171450" indent="-171450" algn="just">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171450" indent="-171450" algn="just">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171450" indent="-171450" algn="just">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lgn="just">
              <a:buFont typeface="Wingdings" panose="05000000000000000000" pitchFamily="2" charset="2"/>
              <a:buChar char="Ø"/>
            </a:pPr>
            <a:r>
              <a:rPr lang="en-US" altLang="en-US" b="1" dirty="0">
                <a:solidFill>
                  <a:schemeClr val="accent5">
                    <a:lumMod val="60000"/>
                    <a:lumOff val="40000"/>
                  </a:schemeClr>
                </a:solidFill>
                <a:latin typeface="Goudy Old Style" panose="02020502050305020303" pitchFamily="18" charset="0"/>
              </a:rPr>
              <a:t>Data Processing and Output : </a:t>
            </a:r>
            <a:r>
              <a:rPr lang="en-US" dirty="0">
                <a:solidFill>
                  <a:schemeClr val="accent1">
                    <a:lumMod val="40000"/>
                    <a:lumOff val="60000"/>
                  </a:schemeClr>
                </a:solidFill>
                <a:latin typeface="Goudy Old Style" panose="02020502050305020303" pitchFamily="18" charset="0"/>
              </a:rPr>
              <a:t>The sensor combines pressure and temperature data to produce compensated, accurate outputs. This enhances reliability in applications like altitude estimation. Data is transmitted digitally via I²C or SPI, allowing seamless integration into various systems.</a:t>
            </a:r>
            <a:endParaRPr lang="en-US" altLang="en-US" dirty="0">
              <a:solidFill>
                <a:schemeClr val="accent1">
                  <a:lumMod val="40000"/>
                  <a:lumOff val="60000"/>
                </a:schemeClr>
              </a:solidFill>
              <a:latin typeface="Goudy Old Style" panose="02020502050305020303" pitchFamily="18" charset="0"/>
            </a:endParaRPr>
          </a:p>
        </p:txBody>
      </p:sp>
      <p:sp>
        <p:nvSpPr>
          <p:cNvPr id="7" name="TextBox 6">
            <a:extLst>
              <a:ext uri="{FF2B5EF4-FFF2-40B4-BE49-F238E27FC236}">
                <a16:creationId xmlns:a16="http://schemas.microsoft.com/office/drawing/2014/main" id="{B74DCDC6-C6A7-68DF-67D5-6F7E9C4F1BD3}"/>
              </a:ext>
            </a:extLst>
          </p:cNvPr>
          <p:cNvSpPr txBox="1"/>
          <p:nvPr/>
        </p:nvSpPr>
        <p:spPr>
          <a:xfrm>
            <a:off x="8482157" y="5134263"/>
            <a:ext cx="1283639" cy="369332"/>
          </a:xfrm>
          <a:prstGeom prst="rect">
            <a:avLst/>
          </a:prstGeom>
          <a:noFill/>
        </p:spPr>
        <p:txBody>
          <a:bodyPr wrap="square">
            <a:spAutoFit/>
          </a:bodyPr>
          <a:lstStyle/>
          <a:p>
            <a:r>
              <a:rPr lang="en-US" i="1" dirty="0">
                <a:solidFill>
                  <a:srgbClr val="FFFF00"/>
                </a:solidFill>
                <a:latin typeface="Bookman Old Style" panose="02050604050505020204" pitchFamily="18" charset="0"/>
              </a:rPr>
              <a:t>Diagram</a:t>
            </a:r>
            <a:endParaRPr lang="en-US" i="1" dirty="0">
              <a:solidFill>
                <a:schemeClr val="accent1">
                  <a:lumMod val="40000"/>
                  <a:lumOff val="60000"/>
                </a:schemeClr>
              </a:solidFill>
              <a:latin typeface="Bookman Old Style" panose="02050604050505020204" pitchFamily="18" charset="0"/>
            </a:endParaRPr>
          </a:p>
        </p:txBody>
      </p:sp>
      <p:pic>
        <p:nvPicPr>
          <p:cNvPr id="5" name="Picture 2" descr="IMG_256">
            <a:extLst>
              <a:ext uri="{FF2B5EF4-FFF2-40B4-BE49-F238E27FC236}">
                <a16:creationId xmlns:a16="http://schemas.microsoft.com/office/drawing/2014/main" id="{8A78D16B-2912-C848-E863-49EE69E8A6B9}"/>
              </a:ext>
            </a:extLst>
          </p:cNvPr>
          <p:cNvPicPr>
            <a:picLocks noChangeAspect="1"/>
          </p:cNvPicPr>
          <p:nvPr/>
        </p:nvPicPr>
        <p:blipFill>
          <a:blip r:embed="rId2"/>
          <a:stretch>
            <a:fillRect/>
          </a:stretch>
        </p:blipFill>
        <p:spPr>
          <a:xfrm>
            <a:off x="7375822" y="1931035"/>
            <a:ext cx="3496310" cy="2995930"/>
          </a:xfrm>
          <a:prstGeom prst="rect">
            <a:avLst/>
          </a:prstGeom>
          <a:noFill/>
          <a:ln w="31750">
            <a:solidFill>
              <a:schemeClr val="bg1"/>
            </a:solidFill>
          </a:ln>
          <a:effectLst>
            <a:glow rad="101600">
              <a:schemeClr val="accent1">
                <a:satMod val="175000"/>
                <a:alpha val="40000"/>
              </a:schemeClr>
            </a:glow>
          </a:effectLst>
        </p:spPr>
      </p:pic>
    </p:spTree>
    <p:extLst>
      <p:ext uri="{BB962C8B-B14F-4D97-AF65-F5344CB8AC3E}">
        <p14:creationId xmlns:p14="http://schemas.microsoft.com/office/powerpoint/2010/main" val="780476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77798-D82E-31ED-7C0B-9668A5B46F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31C66F0-430A-4533-F50E-6B2714FBB092}"/>
              </a:ext>
            </a:extLst>
          </p:cNvPr>
          <p:cNvSpPr txBox="1"/>
          <p:nvPr/>
        </p:nvSpPr>
        <p:spPr>
          <a:xfrm>
            <a:off x="1045802" y="269605"/>
            <a:ext cx="9826330"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cs typeface="Verdana"/>
              </a:rPr>
              <a:t>SYSTEM ARCHITECTURE</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6F5E3084-F60F-BDF6-CECA-A47C632BAB0C}"/>
              </a:ext>
            </a:extLst>
          </p:cNvPr>
          <p:cNvSpPr txBox="1"/>
          <p:nvPr/>
        </p:nvSpPr>
        <p:spPr>
          <a:xfrm>
            <a:off x="11308360" y="5823604"/>
            <a:ext cx="959141"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⟮12⟯</a:t>
            </a:r>
          </a:p>
        </p:txBody>
      </p:sp>
      <p:sp>
        <p:nvSpPr>
          <p:cNvPr id="7" name="TextBox 6">
            <a:extLst>
              <a:ext uri="{FF2B5EF4-FFF2-40B4-BE49-F238E27FC236}">
                <a16:creationId xmlns:a16="http://schemas.microsoft.com/office/drawing/2014/main" id="{6055104F-0A1C-52A8-EABB-7D0876DF3E6E}"/>
              </a:ext>
            </a:extLst>
          </p:cNvPr>
          <p:cNvSpPr txBox="1"/>
          <p:nvPr/>
        </p:nvSpPr>
        <p:spPr>
          <a:xfrm>
            <a:off x="5454180" y="6355468"/>
            <a:ext cx="1283639" cy="369332"/>
          </a:xfrm>
          <a:prstGeom prst="rect">
            <a:avLst/>
          </a:prstGeom>
          <a:noFill/>
        </p:spPr>
        <p:txBody>
          <a:bodyPr wrap="square">
            <a:spAutoFit/>
          </a:bodyPr>
          <a:lstStyle/>
          <a:p>
            <a:r>
              <a:rPr lang="en-US" i="1" dirty="0">
                <a:solidFill>
                  <a:srgbClr val="FFFF00"/>
                </a:solidFill>
                <a:latin typeface="Bookman Old Style" panose="02050604050505020204" pitchFamily="18" charset="0"/>
              </a:rPr>
              <a:t>Diagram</a:t>
            </a:r>
            <a:endParaRPr lang="en-US" i="1" dirty="0">
              <a:solidFill>
                <a:schemeClr val="accent1">
                  <a:lumMod val="40000"/>
                  <a:lumOff val="60000"/>
                </a:schemeClr>
              </a:solidFill>
              <a:latin typeface="Bookman Old Style" panose="02050604050505020204" pitchFamily="18" charset="0"/>
            </a:endParaRPr>
          </a:p>
        </p:txBody>
      </p:sp>
      <p:pic>
        <p:nvPicPr>
          <p:cNvPr id="4" name="Picture 1" descr="IMG_256">
            <a:extLst>
              <a:ext uri="{FF2B5EF4-FFF2-40B4-BE49-F238E27FC236}">
                <a16:creationId xmlns:a16="http://schemas.microsoft.com/office/drawing/2014/main" id="{4F525B86-2483-FC4F-7D9D-3585A71AA865}"/>
              </a:ext>
            </a:extLst>
          </p:cNvPr>
          <p:cNvPicPr>
            <a:picLocks noChangeAspect="1"/>
          </p:cNvPicPr>
          <p:nvPr/>
        </p:nvPicPr>
        <p:blipFill>
          <a:blip r:embed="rId2"/>
          <a:stretch>
            <a:fillRect/>
          </a:stretch>
        </p:blipFill>
        <p:spPr>
          <a:xfrm>
            <a:off x="3709844" y="1185078"/>
            <a:ext cx="4500776" cy="4962803"/>
          </a:xfrm>
          <a:prstGeom prst="rect">
            <a:avLst/>
          </a:prstGeom>
          <a:noFill/>
          <a:ln w="31750">
            <a:solidFill>
              <a:schemeClr val="bg1"/>
            </a:solidFill>
          </a:ln>
          <a:effectLst>
            <a:glow rad="101600">
              <a:schemeClr val="accent1">
                <a:satMod val="175000"/>
                <a:alpha val="40000"/>
              </a:schemeClr>
            </a:glow>
          </a:effectLst>
        </p:spPr>
      </p:pic>
    </p:spTree>
    <p:extLst>
      <p:ext uri="{BB962C8B-B14F-4D97-AF65-F5344CB8AC3E}">
        <p14:creationId xmlns:p14="http://schemas.microsoft.com/office/powerpoint/2010/main" val="2218404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F1DCE5-48F2-793A-0FF6-923CE0201255}"/>
              </a:ext>
            </a:extLst>
          </p:cNvPr>
          <p:cNvSpPr txBox="1"/>
          <p:nvPr/>
        </p:nvSpPr>
        <p:spPr>
          <a:xfrm>
            <a:off x="1314251" y="269605"/>
            <a:ext cx="9826330"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rPr>
              <a:t>WORKING PRINCIPLE</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4" name="TextBox 3">
            <a:extLst>
              <a:ext uri="{FF2B5EF4-FFF2-40B4-BE49-F238E27FC236}">
                <a16:creationId xmlns:a16="http://schemas.microsoft.com/office/drawing/2014/main" id="{70617D52-6F76-F746-EF85-BC048DEF216B}"/>
              </a:ext>
            </a:extLst>
          </p:cNvPr>
          <p:cNvSpPr txBox="1"/>
          <p:nvPr/>
        </p:nvSpPr>
        <p:spPr>
          <a:xfrm>
            <a:off x="1314251" y="1118843"/>
            <a:ext cx="9926997" cy="5555367"/>
          </a:xfrm>
          <a:prstGeom prst="rect">
            <a:avLst/>
          </a:prstGeom>
          <a:noFill/>
        </p:spPr>
        <p:txBody>
          <a:bodyPr wrap="square" rtlCol="0">
            <a:spAutoFit/>
          </a:bodyPr>
          <a:lstStyle/>
          <a:p>
            <a:r>
              <a:rPr lang="en-US" altLang="en-US" dirty="0">
                <a:solidFill>
                  <a:schemeClr val="accent1">
                    <a:lumMod val="40000"/>
                    <a:lumOff val="60000"/>
                  </a:schemeClr>
                </a:solidFill>
                <a:latin typeface="Goudy Old Style" panose="02020502050305020303" pitchFamily="18" charset="0"/>
              </a:rPr>
              <a:t>The IoT–based real–time weather monitoring and machine learning prediction system and </a:t>
            </a:r>
            <a:r>
              <a:rPr lang="en-US" altLang="en-US" dirty="0">
                <a:solidFill>
                  <a:schemeClr val="accent1">
                    <a:lumMod val="40000"/>
                    <a:lumOff val="60000"/>
                  </a:schemeClr>
                </a:solidFill>
                <a:latin typeface="Goudy Old Style" panose="02020502050305020303" pitchFamily="18" charset="0"/>
                <a:sym typeface="+mn-ea"/>
              </a:rPr>
              <a:t>Power BI Visualization</a:t>
            </a:r>
            <a:r>
              <a:rPr lang="en-US" altLang="en-US" dirty="0">
                <a:solidFill>
                  <a:schemeClr val="accent1">
                    <a:lumMod val="40000"/>
                    <a:lumOff val="60000"/>
                  </a:schemeClr>
                </a:solidFill>
                <a:latin typeface="Goudy Old Style" panose="02020502050305020303" pitchFamily="18" charset="0"/>
              </a:rPr>
              <a:t>  operates through a network of sensors, microcontrollers, and cloud platforms to collect, process, and analyze environmental data.</a:t>
            </a:r>
          </a:p>
          <a:p>
            <a:endParaRPr lang="en-US" altLang="en-US"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r>
              <a:rPr lang="en-US" altLang="en-US" b="1" dirty="0">
                <a:solidFill>
                  <a:schemeClr val="accent5">
                    <a:lumMod val="60000"/>
                    <a:lumOff val="40000"/>
                  </a:schemeClr>
                </a:solidFill>
                <a:latin typeface="Goudy Old Style" panose="02020502050305020303" pitchFamily="18" charset="0"/>
              </a:rPr>
              <a:t>Data Acquisition : </a:t>
            </a:r>
            <a:r>
              <a:rPr lang="en-US" altLang="en-US" dirty="0">
                <a:solidFill>
                  <a:schemeClr val="accent1">
                    <a:lumMod val="40000"/>
                    <a:lumOff val="60000"/>
                  </a:schemeClr>
                </a:solidFill>
                <a:latin typeface="Goudy Old Style" panose="02020502050305020303" pitchFamily="18" charset="0"/>
              </a:rPr>
              <a:t>Sensors such as DHT11, BMP280, MQ–135, LDR, and Rain Sensor continuously measure temperature, humidity, air quality, atmospheric pressure, altitude, and rainfall.</a:t>
            </a: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r>
              <a:rPr lang="en-US" altLang="en-US" b="1" dirty="0">
                <a:solidFill>
                  <a:schemeClr val="accent5">
                    <a:lumMod val="60000"/>
                    <a:lumOff val="40000"/>
                  </a:schemeClr>
                </a:solidFill>
                <a:latin typeface="Goudy Old Style" panose="02020502050305020303" pitchFamily="18" charset="0"/>
              </a:rPr>
              <a:t>Microcontroller Processing : </a:t>
            </a:r>
            <a:r>
              <a:rPr lang="en-US" altLang="en-US" dirty="0">
                <a:solidFill>
                  <a:schemeClr val="accent1">
                    <a:lumMod val="40000"/>
                    <a:lumOff val="60000"/>
                  </a:schemeClr>
                </a:solidFill>
                <a:latin typeface="Goudy Old Style" panose="02020502050305020303" pitchFamily="18" charset="0"/>
              </a:rPr>
              <a:t>The Arduino UNO R4 Wi–Fi retrieves sensor data, ensuring seamless communication between hardware components.</a:t>
            </a:r>
          </a:p>
          <a:p>
            <a:pPr marL="228600" indent="-2286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228600" indent="-2286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228600" indent="-2286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r>
              <a:rPr lang="en-US" altLang="en-US" b="1" dirty="0">
                <a:solidFill>
                  <a:schemeClr val="accent5">
                    <a:lumMod val="60000"/>
                    <a:lumOff val="40000"/>
                  </a:schemeClr>
                </a:solidFill>
                <a:latin typeface="Goudy Old Style" panose="02020502050305020303" pitchFamily="18" charset="0"/>
              </a:rPr>
              <a:t>Wireless Data Transmission : </a:t>
            </a:r>
            <a:r>
              <a:rPr lang="en-US" altLang="en-US" dirty="0">
                <a:solidFill>
                  <a:schemeClr val="accent1">
                    <a:lumMod val="40000"/>
                    <a:lumOff val="60000"/>
                  </a:schemeClr>
                </a:solidFill>
                <a:latin typeface="Goudy Old Style" panose="02020502050305020303" pitchFamily="18" charset="0"/>
              </a:rPr>
              <a:t>Acquired data is transmitted via “Wi–Fi connectivity” to the “ThingSpeak IoT cloud”, enabling remote monitoring.</a:t>
            </a:r>
          </a:p>
          <a:p>
            <a:pPr marL="228600" indent="-2286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228600" indent="-2286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228600" indent="-2286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r>
              <a:rPr lang="en-US" altLang="en-US" b="1" dirty="0">
                <a:solidFill>
                  <a:schemeClr val="accent5">
                    <a:lumMod val="60000"/>
                    <a:lumOff val="40000"/>
                  </a:schemeClr>
                </a:solidFill>
                <a:latin typeface="Goudy Old Style" panose="02020502050305020303" pitchFamily="18" charset="0"/>
              </a:rPr>
              <a:t>Machine Learning Predictions : </a:t>
            </a:r>
            <a:r>
              <a:rPr lang="en-US" altLang="en-US" dirty="0">
                <a:solidFill>
                  <a:schemeClr val="accent1">
                    <a:lumMod val="40000"/>
                    <a:lumOff val="60000"/>
                  </a:schemeClr>
                </a:solidFill>
                <a:latin typeface="Goudy Old Style" panose="02020502050305020303" pitchFamily="18" charset="0"/>
              </a:rPr>
              <a:t>Historical and real–time data are processed using “predictive analytics models”, refining weather forecasts.</a:t>
            </a:r>
          </a:p>
          <a:p>
            <a:pPr marL="228600" indent="-2286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228600" indent="-2286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228600" indent="-2286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r>
              <a:rPr lang="en-US" altLang="en-US" b="1" dirty="0">
                <a:solidFill>
                  <a:schemeClr val="accent5">
                    <a:lumMod val="60000"/>
                    <a:lumOff val="40000"/>
                  </a:schemeClr>
                </a:solidFill>
                <a:latin typeface="Goudy Old Style" panose="02020502050305020303" pitchFamily="18" charset="0"/>
              </a:rPr>
              <a:t>Power BI Visualization : </a:t>
            </a:r>
            <a:r>
              <a:rPr lang="en-US" altLang="en-US" dirty="0">
                <a:solidFill>
                  <a:schemeClr val="accent1">
                    <a:lumMod val="40000"/>
                    <a:lumOff val="60000"/>
                  </a:schemeClr>
                </a:solidFill>
                <a:latin typeface="Goudy Old Style" panose="02020502050305020303" pitchFamily="18" charset="0"/>
              </a:rPr>
              <a:t>Interactive dashboards present trends, allowing users to interpret meteorological patterns effectively.</a:t>
            </a:r>
          </a:p>
          <a:p>
            <a:pPr marL="228600" indent="-2286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228600" indent="-2286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228600" indent="-228600">
              <a:buFont typeface="+mj-lt"/>
              <a:buAutoNum type="arabicPeriod"/>
            </a:pPr>
            <a:endParaRPr lang="en-US" altLang="en-US" sz="100" dirty="0">
              <a:solidFill>
                <a:schemeClr val="accent1">
                  <a:lumMod val="40000"/>
                  <a:lumOff val="60000"/>
                </a:schemeClr>
              </a:solidFill>
              <a:latin typeface="Goudy Old Style" panose="02020502050305020303" pitchFamily="18" charset="0"/>
            </a:endParaRPr>
          </a:p>
          <a:p>
            <a:pPr marL="342900" indent="-342900">
              <a:buFont typeface="+mj-lt"/>
              <a:buAutoNum type="arabicPeriod"/>
            </a:pPr>
            <a:r>
              <a:rPr lang="en-US" altLang="en-US" b="1" dirty="0">
                <a:solidFill>
                  <a:schemeClr val="accent5">
                    <a:lumMod val="60000"/>
                    <a:lumOff val="40000"/>
                  </a:schemeClr>
                </a:solidFill>
                <a:latin typeface="Goudy Old Style" panose="02020502050305020303" pitchFamily="18" charset="0"/>
              </a:rPr>
              <a:t>Web &amp; Mobile Interface : </a:t>
            </a:r>
            <a:r>
              <a:rPr lang="en-US" altLang="en-US" dirty="0">
                <a:solidFill>
                  <a:schemeClr val="accent1">
                    <a:lumMod val="40000"/>
                    <a:lumOff val="60000"/>
                  </a:schemeClr>
                </a:solidFill>
                <a:latin typeface="Goudy Old Style" panose="02020502050305020303" pitchFamily="18" charset="0"/>
              </a:rPr>
              <a:t>Users can access real–time updates through an online portal or a mobile application.</a:t>
            </a:r>
          </a:p>
          <a:p>
            <a:endParaRPr lang="en-US" altLang="en-US" dirty="0">
              <a:solidFill>
                <a:schemeClr val="accent1">
                  <a:lumMod val="40000"/>
                  <a:lumOff val="60000"/>
                </a:schemeClr>
              </a:solidFill>
              <a:latin typeface="Goudy Old Style" panose="02020502050305020303" pitchFamily="18" charset="0"/>
            </a:endParaRPr>
          </a:p>
          <a:p>
            <a:r>
              <a:rPr lang="en-US" altLang="en-US" dirty="0">
                <a:solidFill>
                  <a:schemeClr val="accent1">
                    <a:lumMod val="40000"/>
                    <a:lumOff val="60000"/>
                  </a:schemeClr>
                </a:solidFill>
                <a:latin typeface="Goudy Old Style" panose="02020502050305020303" pitchFamily="18" charset="0"/>
              </a:rPr>
              <a:t>This intelligent IoT–based approach  enhances weather forecasting accuracy while enabling efficient  environmental monitoring  and data–driven decision–making</a:t>
            </a:r>
          </a:p>
        </p:txBody>
      </p:sp>
      <p:sp>
        <p:nvSpPr>
          <p:cNvPr id="5" name="TextBox 4">
            <a:extLst>
              <a:ext uri="{FF2B5EF4-FFF2-40B4-BE49-F238E27FC236}">
                <a16:creationId xmlns:a16="http://schemas.microsoft.com/office/drawing/2014/main" id="{1D7E972D-B1B5-C559-02EB-DE92BC9E9762}"/>
              </a:ext>
            </a:extLst>
          </p:cNvPr>
          <p:cNvSpPr txBox="1"/>
          <p:nvPr/>
        </p:nvSpPr>
        <p:spPr>
          <a:xfrm>
            <a:off x="11308360" y="5823604"/>
            <a:ext cx="959141"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⟮13⟯</a:t>
            </a:r>
          </a:p>
        </p:txBody>
      </p:sp>
    </p:spTree>
    <p:extLst>
      <p:ext uri="{BB962C8B-B14F-4D97-AF65-F5344CB8AC3E}">
        <p14:creationId xmlns:p14="http://schemas.microsoft.com/office/powerpoint/2010/main" val="22506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F4190-2B59-B21B-1795-8CD5F2D84AD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61F9EF4-EFFC-26E8-5A7E-50926C9067F2}"/>
              </a:ext>
            </a:extLst>
          </p:cNvPr>
          <p:cNvSpPr txBox="1"/>
          <p:nvPr/>
        </p:nvSpPr>
        <p:spPr>
          <a:xfrm>
            <a:off x="1045802" y="269605"/>
            <a:ext cx="9826330"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cs typeface="Verdana"/>
              </a:rPr>
              <a:t>HARDWARE SETUP</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6F568150-57B3-398C-AC6C-09DB92F33C10}"/>
              </a:ext>
            </a:extLst>
          </p:cNvPr>
          <p:cNvSpPr txBox="1"/>
          <p:nvPr/>
        </p:nvSpPr>
        <p:spPr>
          <a:xfrm>
            <a:off x="11308360" y="5823604"/>
            <a:ext cx="959141"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⟮14⟯</a:t>
            </a:r>
          </a:p>
        </p:txBody>
      </p:sp>
      <p:sp>
        <p:nvSpPr>
          <p:cNvPr id="7" name="TextBox 6">
            <a:extLst>
              <a:ext uri="{FF2B5EF4-FFF2-40B4-BE49-F238E27FC236}">
                <a16:creationId xmlns:a16="http://schemas.microsoft.com/office/drawing/2014/main" id="{CC4C86A1-5AA0-C305-253C-C6F614E4C037}"/>
              </a:ext>
            </a:extLst>
          </p:cNvPr>
          <p:cNvSpPr txBox="1"/>
          <p:nvPr/>
        </p:nvSpPr>
        <p:spPr>
          <a:xfrm>
            <a:off x="5454180" y="6148737"/>
            <a:ext cx="1283639" cy="369332"/>
          </a:xfrm>
          <a:prstGeom prst="rect">
            <a:avLst/>
          </a:prstGeom>
          <a:noFill/>
        </p:spPr>
        <p:txBody>
          <a:bodyPr wrap="square">
            <a:spAutoFit/>
          </a:bodyPr>
          <a:lstStyle/>
          <a:p>
            <a:r>
              <a:rPr lang="en-US" i="1" dirty="0">
                <a:solidFill>
                  <a:srgbClr val="FFFF00"/>
                </a:solidFill>
                <a:latin typeface="Bookman Old Style" panose="02050604050505020204" pitchFamily="18" charset="0"/>
              </a:rPr>
              <a:t>Diagram</a:t>
            </a:r>
            <a:endParaRPr lang="en-US" i="1" dirty="0">
              <a:solidFill>
                <a:schemeClr val="accent1">
                  <a:lumMod val="40000"/>
                  <a:lumOff val="60000"/>
                </a:schemeClr>
              </a:solidFill>
              <a:latin typeface="Bookman Old Style" panose="02050604050505020204" pitchFamily="18" charset="0"/>
            </a:endParaRPr>
          </a:p>
        </p:txBody>
      </p:sp>
      <p:pic>
        <p:nvPicPr>
          <p:cNvPr id="3" name="Picture 1" descr="IMG_256">
            <a:extLst>
              <a:ext uri="{FF2B5EF4-FFF2-40B4-BE49-F238E27FC236}">
                <a16:creationId xmlns:a16="http://schemas.microsoft.com/office/drawing/2014/main" id="{96547870-72A3-2E44-D3B5-C41C914140B3}"/>
              </a:ext>
            </a:extLst>
          </p:cNvPr>
          <p:cNvPicPr>
            <a:picLocks noChangeAspect="1"/>
          </p:cNvPicPr>
          <p:nvPr/>
        </p:nvPicPr>
        <p:blipFill>
          <a:blip r:embed="rId2"/>
          <a:srcRect l="6505" t="1" r="3215" b="1996"/>
          <a:stretch>
            <a:fillRect/>
          </a:stretch>
        </p:blipFill>
        <p:spPr>
          <a:xfrm>
            <a:off x="2800512" y="1624291"/>
            <a:ext cx="6316910" cy="4264782"/>
          </a:xfrm>
          <a:prstGeom prst="rect">
            <a:avLst/>
          </a:prstGeom>
          <a:noFill/>
          <a:ln w="31750">
            <a:solidFill>
              <a:schemeClr val="bg1"/>
            </a:solidFill>
          </a:ln>
          <a:effectLst>
            <a:glow rad="101600">
              <a:schemeClr val="accent1">
                <a:satMod val="175000"/>
                <a:alpha val="40000"/>
              </a:schemeClr>
            </a:glow>
          </a:effectLst>
        </p:spPr>
      </p:pic>
    </p:spTree>
    <p:extLst>
      <p:ext uri="{BB962C8B-B14F-4D97-AF65-F5344CB8AC3E}">
        <p14:creationId xmlns:p14="http://schemas.microsoft.com/office/powerpoint/2010/main" val="32711486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6F519-190A-2B0E-CB0C-9C65ED31D6F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799E1E6-8CAC-D428-8037-CF215E2D5334}"/>
              </a:ext>
            </a:extLst>
          </p:cNvPr>
          <p:cNvSpPr txBox="1"/>
          <p:nvPr/>
        </p:nvSpPr>
        <p:spPr>
          <a:xfrm>
            <a:off x="1045802" y="269605"/>
            <a:ext cx="9826330"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cs typeface="Verdana"/>
              </a:rPr>
              <a:t>IOT PLATFORM : THINGSPEAK</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91226A47-8BD6-653C-453A-31B98A76EBA9}"/>
              </a:ext>
            </a:extLst>
          </p:cNvPr>
          <p:cNvSpPr txBox="1"/>
          <p:nvPr/>
        </p:nvSpPr>
        <p:spPr>
          <a:xfrm>
            <a:off x="11308360" y="5823604"/>
            <a:ext cx="959141"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⟮15⟯</a:t>
            </a:r>
          </a:p>
        </p:txBody>
      </p:sp>
      <p:sp>
        <p:nvSpPr>
          <p:cNvPr id="7" name="TextBox 6">
            <a:extLst>
              <a:ext uri="{FF2B5EF4-FFF2-40B4-BE49-F238E27FC236}">
                <a16:creationId xmlns:a16="http://schemas.microsoft.com/office/drawing/2014/main" id="{34CD20E3-6D6C-9993-D4B5-88496EAB034A}"/>
              </a:ext>
            </a:extLst>
          </p:cNvPr>
          <p:cNvSpPr txBox="1"/>
          <p:nvPr/>
        </p:nvSpPr>
        <p:spPr>
          <a:xfrm>
            <a:off x="5454179" y="5746659"/>
            <a:ext cx="1283639" cy="369332"/>
          </a:xfrm>
          <a:prstGeom prst="rect">
            <a:avLst/>
          </a:prstGeom>
          <a:noFill/>
        </p:spPr>
        <p:txBody>
          <a:bodyPr wrap="square">
            <a:spAutoFit/>
          </a:bodyPr>
          <a:lstStyle/>
          <a:p>
            <a:r>
              <a:rPr lang="en-US" i="1" dirty="0">
                <a:solidFill>
                  <a:srgbClr val="FFFF00"/>
                </a:solidFill>
                <a:latin typeface="Bookman Old Style" panose="02050604050505020204" pitchFamily="18" charset="0"/>
              </a:rPr>
              <a:t>Diagram</a:t>
            </a:r>
            <a:endParaRPr lang="en-US" i="1" dirty="0">
              <a:solidFill>
                <a:schemeClr val="accent1">
                  <a:lumMod val="40000"/>
                  <a:lumOff val="60000"/>
                </a:schemeClr>
              </a:solidFill>
              <a:latin typeface="Bookman Old Style" panose="02050604050505020204" pitchFamily="18" charset="0"/>
            </a:endParaRPr>
          </a:p>
        </p:txBody>
      </p:sp>
      <p:pic>
        <p:nvPicPr>
          <p:cNvPr id="5" name="Picture 4">
            <a:extLst>
              <a:ext uri="{FF2B5EF4-FFF2-40B4-BE49-F238E27FC236}">
                <a16:creationId xmlns:a16="http://schemas.microsoft.com/office/drawing/2014/main" id="{FA6A0D88-5E48-FEB7-0DFD-3CDE2E66033C}"/>
              </a:ext>
            </a:extLst>
          </p:cNvPr>
          <p:cNvPicPr>
            <a:picLocks noChangeAspect="1"/>
          </p:cNvPicPr>
          <p:nvPr/>
        </p:nvPicPr>
        <p:blipFill>
          <a:blip r:embed="rId2"/>
          <a:srcRect b="420"/>
          <a:stretch>
            <a:fillRect/>
          </a:stretch>
        </p:blipFill>
        <p:spPr>
          <a:xfrm>
            <a:off x="1503508" y="1817408"/>
            <a:ext cx="9184983" cy="3643825"/>
          </a:xfrm>
          <a:prstGeom prst="rect">
            <a:avLst/>
          </a:prstGeom>
          <a:ln w="31750">
            <a:solidFill>
              <a:schemeClr val="bg1"/>
            </a:solidFill>
          </a:ln>
          <a:effectLst>
            <a:glow rad="101600">
              <a:schemeClr val="accent1">
                <a:satMod val="175000"/>
                <a:alpha val="40000"/>
              </a:schemeClr>
            </a:glow>
          </a:effectLst>
        </p:spPr>
      </p:pic>
    </p:spTree>
    <p:extLst>
      <p:ext uri="{BB962C8B-B14F-4D97-AF65-F5344CB8AC3E}">
        <p14:creationId xmlns:p14="http://schemas.microsoft.com/office/powerpoint/2010/main" val="15057466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D4D35-1A9E-412C-073D-7BC5A4F5E59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D129A11-2200-4967-F317-C98FAC5B738E}"/>
              </a:ext>
            </a:extLst>
          </p:cNvPr>
          <p:cNvSpPr txBox="1"/>
          <p:nvPr/>
        </p:nvSpPr>
        <p:spPr>
          <a:xfrm>
            <a:off x="1045802" y="269605"/>
            <a:ext cx="9826330" cy="1323439"/>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rPr>
              <a:t>MACHINE LEARNING FOR WEATHER PREDICTION</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10701B85-586C-5DAB-7861-6E5618B08C86}"/>
              </a:ext>
            </a:extLst>
          </p:cNvPr>
          <p:cNvSpPr txBox="1"/>
          <p:nvPr/>
        </p:nvSpPr>
        <p:spPr>
          <a:xfrm>
            <a:off x="11308360" y="5823604"/>
            <a:ext cx="959141"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⟮16⟯</a:t>
            </a:r>
          </a:p>
        </p:txBody>
      </p:sp>
      <p:sp>
        <p:nvSpPr>
          <p:cNvPr id="7" name="TextBox 6">
            <a:extLst>
              <a:ext uri="{FF2B5EF4-FFF2-40B4-BE49-F238E27FC236}">
                <a16:creationId xmlns:a16="http://schemas.microsoft.com/office/drawing/2014/main" id="{CA8B4C83-FCB9-8574-35E0-9E509610A2DA}"/>
              </a:ext>
            </a:extLst>
          </p:cNvPr>
          <p:cNvSpPr txBox="1"/>
          <p:nvPr/>
        </p:nvSpPr>
        <p:spPr>
          <a:xfrm>
            <a:off x="2719454" y="5638938"/>
            <a:ext cx="1283639" cy="369332"/>
          </a:xfrm>
          <a:prstGeom prst="rect">
            <a:avLst/>
          </a:prstGeom>
          <a:noFill/>
        </p:spPr>
        <p:txBody>
          <a:bodyPr wrap="square">
            <a:spAutoFit/>
          </a:bodyPr>
          <a:lstStyle/>
          <a:p>
            <a:r>
              <a:rPr lang="en-US" i="1" dirty="0">
                <a:solidFill>
                  <a:srgbClr val="FFFF00"/>
                </a:solidFill>
                <a:latin typeface="Bookman Old Style" panose="02050604050505020204" pitchFamily="18" charset="0"/>
              </a:rPr>
              <a:t>Diagrams</a:t>
            </a:r>
            <a:endParaRPr lang="en-US" i="1" dirty="0">
              <a:solidFill>
                <a:schemeClr val="accent1">
                  <a:lumMod val="40000"/>
                  <a:lumOff val="60000"/>
                </a:schemeClr>
              </a:solidFill>
              <a:latin typeface="Bookman Old Style" panose="02050604050505020204" pitchFamily="18" charset="0"/>
            </a:endParaRPr>
          </a:p>
        </p:txBody>
      </p:sp>
      <p:pic>
        <p:nvPicPr>
          <p:cNvPr id="3" name="Picture 2" descr="temperature over time">
            <a:extLst>
              <a:ext uri="{FF2B5EF4-FFF2-40B4-BE49-F238E27FC236}">
                <a16:creationId xmlns:a16="http://schemas.microsoft.com/office/drawing/2014/main" id="{0E013CEC-0CE8-48BE-45C8-382E3F7623C4}"/>
              </a:ext>
            </a:extLst>
          </p:cNvPr>
          <p:cNvPicPr>
            <a:picLocks noChangeAspect="1"/>
          </p:cNvPicPr>
          <p:nvPr/>
        </p:nvPicPr>
        <p:blipFill>
          <a:blip r:embed="rId2"/>
          <a:stretch>
            <a:fillRect/>
          </a:stretch>
        </p:blipFill>
        <p:spPr>
          <a:xfrm>
            <a:off x="1124955" y="1737394"/>
            <a:ext cx="4472638" cy="3621437"/>
          </a:xfrm>
          <a:prstGeom prst="rect">
            <a:avLst/>
          </a:prstGeom>
          <a:ln w="31750">
            <a:solidFill>
              <a:schemeClr val="bg1"/>
            </a:solidFill>
          </a:ln>
          <a:effectLst>
            <a:glow rad="101600">
              <a:schemeClr val="accent1">
                <a:satMod val="175000"/>
                <a:alpha val="40000"/>
              </a:schemeClr>
            </a:glow>
          </a:effectLst>
        </p:spPr>
      </p:pic>
      <p:pic>
        <p:nvPicPr>
          <p:cNvPr id="4" name="Picture 1">
            <a:extLst>
              <a:ext uri="{FF2B5EF4-FFF2-40B4-BE49-F238E27FC236}">
                <a16:creationId xmlns:a16="http://schemas.microsoft.com/office/drawing/2014/main" id="{6981852D-BA7C-7E15-41E3-F48921844D10}"/>
              </a:ext>
            </a:extLst>
          </p:cNvPr>
          <p:cNvPicPr>
            <a:picLocks noChangeAspect="1"/>
          </p:cNvPicPr>
          <p:nvPr/>
        </p:nvPicPr>
        <p:blipFill>
          <a:blip r:embed="rId3"/>
          <a:stretch>
            <a:fillRect/>
          </a:stretch>
        </p:blipFill>
        <p:spPr>
          <a:xfrm>
            <a:off x="5731834" y="1737394"/>
            <a:ext cx="5476458" cy="1811149"/>
          </a:xfrm>
          <a:prstGeom prst="rect">
            <a:avLst/>
          </a:prstGeom>
          <a:ln w="31750">
            <a:solidFill>
              <a:schemeClr val="bg1"/>
            </a:solidFill>
          </a:ln>
          <a:effectLst>
            <a:glow rad="101600">
              <a:schemeClr val="accent1">
                <a:satMod val="175000"/>
                <a:alpha val="40000"/>
              </a:schemeClr>
            </a:glow>
          </a:effectLst>
        </p:spPr>
      </p:pic>
      <p:pic>
        <p:nvPicPr>
          <p:cNvPr id="8" name="Picture 1">
            <a:extLst>
              <a:ext uri="{FF2B5EF4-FFF2-40B4-BE49-F238E27FC236}">
                <a16:creationId xmlns:a16="http://schemas.microsoft.com/office/drawing/2014/main" id="{F65D961B-B63D-CFA5-A131-979BF7A719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5718517" y="3708670"/>
            <a:ext cx="5492629" cy="2977773"/>
          </a:xfrm>
          <a:prstGeom prst="rect">
            <a:avLst/>
          </a:prstGeom>
          <a:noFill/>
          <a:ln w="31750">
            <a:solidFill>
              <a:schemeClr val="bg1"/>
            </a:solidFill>
          </a:ln>
          <a:effectLst>
            <a:glow rad="101600">
              <a:schemeClr val="accent1">
                <a:satMod val="175000"/>
                <a:alpha val="40000"/>
              </a:schemeClr>
            </a:glow>
          </a:effectLst>
        </p:spPr>
      </p:pic>
    </p:spTree>
    <p:extLst>
      <p:ext uri="{BB962C8B-B14F-4D97-AF65-F5344CB8AC3E}">
        <p14:creationId xmlns:p14="http://schemas.microsoft.com/office/powerpoint/2010/main" val="15232919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A0814-6973-9579-7072-53D402DDDE5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EE1BEE0-B52C-EDDA-69C7-D6C551B49604}"/>
              </a:ext>
            </a:extLst>
          </p:cNvPr>
          <p:cNvSpPr txBox="1"/>
          <p:nvPr/>
        </p:nvSpPr>
        <p:spPr>
          <a:xfrm>
            <a:off x="1045802" y="269605"/>
            <a:ext cx="9826330" cy="1323439"/>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rPr>
              <a:t>MACHINE LEARNING FOR WEATHER PREDICTION</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FDA1691B-9E61-FC99-FEC0-9E1B4F45056A}"/>
              </a:ext>
            </a:extLst>
          </p:cNvPr>
          <p:cNvSpPr txBox="1"/>
          <p:nvPr/>
        </p:nvSpPr>
        <p:spPr>
          <a:xfrm>
            <a:off x="11308360" y="5823604"/>
            <a:ext cx="959141"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⟮17⟯</a:t>
            </a:r>
          </a:p>
        </p:txBody>
      </p:sp>
      <p:sp>
        <p:nvSpPr>
          <p:cNvPr id="7" name="TextBox 6">
            <a:extLst>
              <a:ext uri="{FF2B5EF4-FFF2-40B4-BE49-F238E27FC236}">
                <a16:creationId xmlns:a16="http://schemas.microsoft.com/office/drawing/2014/main" id="{A2697822-E365-4513-5700-76131B480F81}"/>
              </a:ext>
            </a:extLst>
          </p:cNvPr>
          <p:cNvSpPr txBox="1"/>
          <p:nvPr/>
        </p:nvSpPr>
        <p:spPr>
          <a:xfrm>
            <a:off x="7437447" y="6311450"/>
            <a:ext cx="1283639" cy="369332"/>
          </a:xfrm>
          <a:prstGeom prst="rect">
            <a:avLst/>
          </a:prstGeom>
          <a:noFill/>
        </p:spPr>
        <p:txBody>
          <a:bodyPr wrap="square">
            <a:spAutoFit/>
          </a:bodyPr>
          <a:lstStyle/>
          <a:p>
            <a:r>
              <a:rPr lang="en-US" i="1" dirty="0">
                <a:solidFill>
                  <a:srgbClr val="FFFF00"/>
                </a:solidFill>
                <a:latin typeface="Bookman Old Style" panose="02050604050505020204" pitchFamily="18" charset="0"/>
              </a:rPr>
              <a:t>Diagrams</a:t>
            </a:r>
            <a:endParaRPr lang="en-US" i="1" dirty="0">
              <a:solidFill>
                <a:schemeClr val="accent1">
                  <a:lumMod val="40000"/>
                  <a:lumOff val="60000"/>
                </a:schemeClr>
              </a:solidFill>
              <a:latin typeface="Bookman Old Style" panose="02050604050505020204" pitchFamily="18" charset="0"/>
            </a:endParaRPr>
          </a:p>
        </p:txBody>
      </p:sp>
      <p:pic>
        <p:nvPicPr>
          <p:cNvPr id="5" name="Picture 1">
            <a:extLst>
              <a:ext uri="{FF2B5EF4-FFF2-40B4-BE49-F238E27FC236}">
                <a16:creationId xmlns:a16="http://schemas.microsoft.com/office/drawing/2014/main" id="{4CE2BFDC-39C7-7FAE-F8EA-2B78BF332F11}"/>
              </a:ext>
            </a:extLst>
          </p:cNvPr>
          <p:cNvPicPr>
            <a:picLocks noChangeAspect="1"/>
          </p:cNvPicPr>
          <p:nvPr/>
        </p:nvPicPr>
        <p:blipFill>
          <a:blip r:embed="rId2"/>
          <a:stretch>
            <a:fillRect/>
          </a:stretch>
        </p:blipFill>
        <p:spPr>
          <a:xfrm>
            <a:off x="1226366" y="1760769"/>
            <a:ext cx="3528189" cy="4735347"/>
          </a:xfrm>
          <a:prstGeom prst="rect">
            <a:avLst/>
          </a:prstGeom>
          <a:ln w="31750">
            <a:solidFill>
              <a:schemeClr val="bg1"/>
            </a:solidFill>
          </a:ln>
          <a:effectLst>
            <a:glow rad="101600">
              <a:schemeClr val="accent1">
                <a:satMod val="175000"/>
                <a:alpha val="40000"/>
              </a:schemeClr>
            </a:glow>
          </a:effectLst>
        </p:spPr>
      </p:pic>
      <p:pic>
        <p:nvPicPr>
          <p:cNvPr id="9" name="Content Placeholder 5">
            <a:extLst>
              <a:ext uri="{FF2B5EF4-FFF2-40B4-BE49-F238E27FC236}">
                <a16:creationId xmlns:a16="http://schemas.microsoft.com/office/drawing/2014/main" id="{28D36D4D-58CF-03F6-8FA0-736D05215BA1}"/>
              </a:ext>
            </a:extLst>
          </p:cNvPr>
          <p:cNvPicPr>
            <a:picLocks noChangeAspect="1"/>
          </p:cNvPicPr>
          <p:nvPr/>
        </p:nvPicPr>
        <p:blipFill>
          <a:blip r:embed="rId3"/>
          <a:srcRect t="4737" r="2085" b="1510"/>
          <a:stretch>
            <a:fillRect/>
          </a:stretch>
        </p:blipFill>
        <p:spPr>
          <a:xfrm>
            <a:off x="4964956" y="1760769"/>
            <a:ext cx="6215933" cy="4312860"/>
          </a:xfrm>
          <a:prstGeom prst="rect">
            <a:avLst/>
          </a:prstGeom>
          <a:ln w="31750">
            <a:solidFill>
              <a:schemeClr val="bg1"/>
            </a:solidFill>
          </a:ln>
          <a:effectLst>
            <a:glow rad="101600">
              <a:schemeClr val="accent1">
                <a:satMod val="175000"/>
                <a:alpha val="40000"/>
              </a:schemeClr>
            </a:glow>
          </a:effectLst>
        </p:spPr>
      </p:pic>
    </p:spTree>
    <p:extLst>
      <p:ext uri="{BB962C8B-B14F-4D97-AF65-F5344CB8AC3E}">
        <p14:creationId xmlns:p14="http://schemas.microsoft.com/office/powerpoint/2010/main" val="4192092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96D3C-DCBC-C85B-15C9-986F445E059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1823B13-38B1-9F59-E11D-CA18F64D42CC}"/>
              </a:ext>
            </a:extLst>
          </p:cNvPr>
          <p:cNvSpPr txBox="1"/>
          <p:nvPr/>
        </p:nvSpPr>
        <p:spPr>
          <a:xfrm>
            <a:off x="1045801" y="269605"/>
            <a:ext cx="10321281"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rPr>
              <a:t>WEATHER PREDICTION METRICS</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122D8FEB-E199-BEE5-9344-6BCE44B4E273}"/>
              </a:ext>
            </a:extLst>
          </p:cNvPr>
          <p:cNvSpPr txBox="1"/>
          <p:nvPr/>
        </p:nvSpPr>
        <p:spPr>
          <a:xfrm>
            <a:off x="11308360" y="5823604"/>
            <a:ext cx="959141"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⟮18⟯</a:t>
            </a:r>
          </a:p>
        </p:txBody>
      </p:sp>
      <p:sp>
        <p:nvSpPr>
          <p:cNvPr id="7" name="TextBox 6">
            <a:extLst>
              <a:ext uri="{FF2B5EF4-FFF2-40B4-BE49-F238E27FC236}">
                <a16:creationId xmlns:a16="http://schemas.microsoft.com/office/drawing/2014/main" id="{3EE49472-DB25-48AA-270A-1940D7EDDBE8}"/>
              </a:ext>
            </a:extLst>
          </p:cNvPr>
          <p:cNvSpPr txBox="1"/>
          <p:nvPr/>
        </p:nvSpPr>
        <p:spPr>
          <a:xfrm>
            <a:off x="5093340" y="6219063"/>
            <a:ext cx="2226202" cy="369332"/>
          </a:xfrm>
          <a:prstGeom prst="rect">
            <a:avLst/>
          </a:prstGeom>
          <a:noFill/>
        </p:spPr>
        <p:txBody>
          <a:bodyPr wrap="square">
            <a:spAutoFit/>
          </a:bodyPr>
          <a:lstStyle/>
          <a:p>
            <a:r>
              <a:rPr lang="en-US" i="1" dirty="0">
                <a:solidFill>
                  <a:srgbClr val="FFFF00"/>
                </a:solidFill>
                <a:latin typeface="Bookman Old Style" panose="02050604050505020204" pitchFamily="18" charset="0"/>
              </a:rPr>
              <a:t>Tables &amp; Diagram</a:t>
            </a:r>
            <a:endParaRPr lang="en-US" i="1" dirty="0">
              <a:solidFill>
                <a:schemeClr val="accent1">
                  <a:lumMod val="40000"/>
                  <a:lumOff val="60000"/>
                </a:schemeClr>
              </a:solidFill>
              <a:latin typeface="Bookman Old Style" panose="02050604050505020204" pitchFamily="18" charset="0"/>
            </a:endParaRPr>
          </a:p>
        </p:txBody>
      </p:sp>
      <p:pic>
        <p:nvPicPr>
          <p:cNvPr id="3" name="Picture 8">
            <a:extLst>
              <a:ext uri="{FF2B5EF4-FFF2-40B4-BE49-F238E27FC236}">
                <a16:creationId xmlns:a16="http://schemas.microsoft.com/office/drawing/2014/main" id="{002229E0-C413-F518-0309-9BDB2C130009}"/>
              </a:ext>
            </a:extLst>
          </p:cNvPr>
          <p:cNvPicPr>
            <a:picLocks noChangeAspect="1"/>
          </p:cNvPicPr>
          <p:nvPr/>
        </p:nvPicPr>
        <p:blipFill>
          <a:blip r:embed="rId3"/>
          <a:stretch>
            <a:fillRect/>
          </a:stretch>
        </p:blipFill>
        <p:spPr>
          <a:xfrm>
            <a:off x="6179392" y="2999892"/>
            <a:ext cx="5020013" cy="2823712"/>
          </a:xfrm>
          <a:prstGeom prst="rect">
            <a:avLst/>
          </a:prstGeom>
          <a:noFill/>
          <a:ln>
            <a:noFill/>
          </a:ln>
        </p:spPr>
      </p:pic>
      <p:graphicFrame>
        <p:nvGraphicFramePr>
          <p:cNvPr id="4" name="Table 3">
            <a:extLst>
              <a:ext uri="{FF2B5EF4-FFF2-40B4-BE49-F238E27FC236}">
                <a16:creationId xmlns:a16="http://schemas.microsoft.com/office/drawing/2014/main" id="{1EB9E84C-2352-8EAA-9D27-E770183615C2}"/>
              </a:ext>
            </a:extLst>
          </p:cNvPr>
          <p:cNvGraphicFramePr/>
          <p:nvPr>
            <p:custDataLst>
              <p:tags r:id="rId1"/>
            </p:custDataLst>
            <p:extLst>
              <p:ext uri="{D42A27DB-BD31-4B8C-83A1-F6EECF244321}">
                <p14:modId xmlns:p14="http://schemas.microsoft.com/office/powerpoint/2010/main" val="953211868"/>
              </p:ext>
            </p:extLst>
          </p:nvPr>
        </p:nvGraphicFramePr>
        <p:xfrm>
          <a:off x="1128427" y="1181819"/>
          <a:ext cx="10073834" cy="1699403"/>
        </p:xfrm>
        <a:graphic>
          <a:graphicData uri="http://schemas.openxmlformats.org/drawingml/2006/table">
            <a:tbl>
              <a:tblPr>
                <a:tableStyleId>{69CF1AB2-1976-4502-BF36-3FF5EA218861}</a:tableStyleId>
              </a:tblPr>
              <a:tblGrid>
                <a:gridCol w="2112214">
                  <a:extLst>
                    <a:ext uri="{9D8B030D-6E8A-4147-A177-3AD203B41FA5}">
                      <a16:colId xmlns:a16="http://schemas.microsoft.com/office/drawing/2014/main" val="20000"/>
                    </a:ext>
                  </a:extLst>
                </a:gridCol>
                <a:gridCol w="1990405">
                  <a:extLst>
                    <a:ext uri="{9D8B030D-6E8A-4147-A177-3AD203B41FA5}">
                      <a16:colId xmlns:a16="http://schemas.microsoft.com/office/drawing/2014/main" val="20001"/>
                    </a:ext>
                  </a:extLst>
                </a:gridCol>
                <a:gridCol w="1990405">
                  <a:extLst>
                    <a:ext uri="{9D8B030D-6E8A-4147-A177-3AD203B41FA5}">
                      <a16:colId xmlns:a16="http://schemas.microsoft.com/office/drawing/2014/main" val="20002"/>
                    </a:ext>
                  </a:extLst>
                </a:gridCol>
                <a:gridCol w="1990405">
                  <a:extLst>
                    <a:ext uri="{9D8B030D-6E8A-4147-A177-3AD203B41FA5}">
                      <a16:colId xmlns:a16="http://schemas.microsoft.com/office/drawing/2014/main" val="20003"/>
                    </a:ext>
                  </a:extLst>
                </a:gridCol>
                <a:gridCol w="1990405">
                  <a:extLst>
                    <a:ext uri="{9D8B030D-6E8A-4147-A177-3AD203B41FA5}">
                      <a16:colId xmlns:a16="http://schemas.microsoft.com/office/drawing/2014/main" val="20004"/>
                    </a:ext>
                  </a:extLst>
                </a:gridCol>
              </a:tblGrid>
              <a:tr h="438963">
                <a:tc>
                  <a:txBody>
                    <a:bodyPr/>
                    <a:lstStyle/>
                    <a:p>
                      <a:pPr algn="ctr" fontAlgn="ctr"/>
                      <a:r>
                        <a:rPr sz="1100" b="1" u="sng" dirty="0">
                          <a:effectLst/>
                          <a:latin typeface="Bookman Old Style" panose="02050604050505020204" pitchFamily="18" charset="0"/>
                        </a:rPr>
                        <a:t>Model</a:t>
                      </a:r>
                    </a:p>
                  </a:txBody>
                  <a:tcPr marL="9842" marR="9842" marT="9842" marB="0" anchor="ctr"/>
                </a:tc>
                <a:tc>
                  <a:txBody>
                    <a:bodyPr/>
                    <a:lstStyle/>
                    <a:p>
                      <a:pPr algn="ctr" fontAlgn="ctr"/>
                      <a:r>
                        <a:rPr sz="1100" b="1" u="sng" dirty="0">
                          <a:effectLst/>
                          <a:latin typeface="Bookman Old Style" panose="02050604050505020204" pitchFamily="18" charset="0"/>
                        </a:rPr>
                        <a:t>Accuracy</a:t>
                      </a:r>
                    </a:p>
                  </a:txBody>
                  <a:tcPr marL="9842" marR="9842" marT="9842" marB="0" anchor="ctr"/>
                </a:tc>
                <a:tc>
                  <a:txBody>
                    <a:bodyPr/>
                    <a:lstStyle/>
                    <a:p>
                      <a:pPr algn="ctr" fontAlgn="ctr"/>
                      <a:r>
                        <a:rPr sz="1100" b="1" u="sng" dirty="0">
                          <a:effectLst/>
                          <a:latin typeface="Bookman Old Style" panose="02050604050505020204" pitchFamily="18" charset="0"/>
                        </a:rPr>
                        <a:t>Precision (Rain)</a:t>
                      </a:r>
                    </a:p>
                  </a:txBody>
                  <a:tcPr marL="9842" marR="9842" marT="9842" marB="0" anchor="ctr"/>
                </a:tc>
                <a:tc>
                  <a:txBody>
                    <a:bodyPr/>
                    <a:lstStyle/>
                    <a:p>
                      <a:pPr algn="ctr" fontAlgn="ctr"/>
                      <a:r>
                        <a:rPr sz="1100" b="1" u="sng" dirty="0">
                          <a:effectLst/>
                          <a:latin typeface="Bookman Old Style" panose="02050604050505020204" pitchFamily="18" charset="0"/>
                        </a:rPr>
                        <a:t>Recall (Rain)</a:t>
                      </a:r>
                    </a:p>
                  </a:txBody>
                  <a:tcPr marL="9842" marR="9842" marT="9842" marB="0" anchor="ctr"/>
                </a:tc>
                <a:tc>
                  <a:txBody>
                    <a:bodyPr/>
                    <a:lstStyle/>
                    <a:p>
                      <a:pPr algn="ctr" fontAlgn="ctr"/>
                      <a:r>
                        <a:rPr sz="1100" b="1" u="sng" dirty="0">
                          <a:effectLst/>
                          <a:latin typeface="Bookman Old Style" panose="02050604050505020204" pitchFamily="18" charset="0"/>
                        </a:rPr>
                        <a:t>F</a:t>
                      </a:r>
                      <a:r>
                        <a:rPr lang="en-IN" sz="1100" b="1" u="sng" dirty="0">
                          <a:effectLst/>
                          <a:latin typeface="Bookman Old Style" panose="02050604050505020204" pitchFamily="18" charset="0"/>
                        </a:rPr>
                        <a:t>₁–</a:t>
                      </a:r>
                      <a:r>
                        <a:rPr sz="1100" b="1" u="sng" dirty="0">
                          <a:effectLst/>
                          <a:latin typeface="Bookman Old Style" panose="02050604050505020204" pitchFamily="18" charset="0"/>
                        </a:rPr>
                        <a:t>Score (Rain)</a:t>
                      </a:r>
                    </a:p>
                  </a:txBody>
                  <a:tcPr marL="9842" marR="9842" marT="9842" marB="0" anchor="ctr"/>
                </a:tc>
                <a:extLst>
                  <a:ext uri="{0D108BD9-81ED-4DB2-BD59-A6C34878D82A}">
                    <a16:rowId xmlns:a16="http://schemas.microsoft.com/office/drawing/2014/main" val="10000"/>
                  </a:ext>
                </a:extLst>
              </a:tr>
              <a:tr h="252088">
                <a:tc>
                  <a:txBody>
                    <a:bodyPr/>
                    <a:lstStyle/>
                    <a:p>
                      <a:pPr algn="ctr" fontAlgn="ctr"/>
                      <a:r>
                        <a:rPr sz="1100" b="1" dirty="0">
                          <a:latin typeface="Bookman Old Style" panose="02050604050505020204" pitchFamily="18" charset="0"/>
                        </a:rPr>
                        <a:t>Logistic Regression</a:t>
                      </a:r>
                    </a:p>
                  </a:txBody>
                  <a:tcPr marL="9842" marR="9842" marT="9842" marB="0" anchor="ctr"/>
                </a:tc>
                <a:tc>
                  <a:txBody>
                    <a:bodyPr/>
                    <a:lstStyle/>
                    <a:p>
                      <a:pPr algn="ctr" fontAlgn="ctr"/>
                      <a:r>
                        <a:rPr sz="1100" dirty="0">
                          <a:latin typeface="Cambria Math" panose="02040503050406030204" pitchFamily="18" charset="0"/>
                          <a:ea typeface="Cambria Math" panose="02040503050406030204" pitchFamily="18" charset="0"/>
                        </a:rPr>
                        <a:t>0.976878612716763</a:t>
                      </a:r>
                    </a:p>
                  </a:txBody>
                  <a:tcPr marL="9842" marR="9842" marT="9842" marB="0" anchor="ctr"/>
                </a:tc>
                <a:tc>
                  <a:txBody>
                    <a:bodyPr/>
                    <a:lstStyle/>
                    <a:p>
                      <a:pPr algn="ctr" fontAlgn="ctr"/>
                      <a:r>
                        <a:rPr sz="1100" dirty="0">
                          <a:latin typeface="Cambria Math" panose="02040503050406030204" pitchFamily="18" charset="0"/>
                          <a:ea typeface="Cambria Math" panose="02040503050406030204" pitchFamily="18" charset="0"/>
                        </a:rPr>
                        <a:t>0.9925373134328358</a:t>
                      </a:r>
                    </a:p>
                  </a:txBody>
                  <a:tcPr marL="9842" marR="9842" marT="9842" marB="0" anchor="ctr"/>
                </a:tc>
                <a:tc>
                  <a:txBody>
                    <a:bodyPr/>
                    <a:lstStyle/>
                    <a:p>
                      <a:pPr algn="ctr" fontAlgn="ctr"/>
                      <a:r>
                        <a:rPr sz="1100" dirty="0">
                          <a:latin typeface="Cambria Math" panose="02040503050406030204" pitchFamily="18" charset="0"/>
                          <a:ea typeface="Cambria Math" panose="02040503050406030204" pitchFamily="18" charset="0"/>
                        </a:rPr>
                        <a:t>0.9779411764705882</a:t>
                      </a:r>
                    </a:p>
                  </a:txBody>
                  <a:tcPr marL="9842" marR="9842" marT="9842" marB="0" anchor="ctr"/>
                </a:tc>
                <a:tc>
                  <a:txBody>
                    <a:bodyPr/>
                    <a:lstStyle/>
                    <a:p>
                      <a:pPr algn="ctr" fontAlgn="ctr"/>
                      <a:r>
                        <a:rPr sz="1100" dirty="0">
                          <a:latin typeface="Cambria Math" panose="02040503050406030204" pitchFamily="18" charset="0"/>
                          <a:ea typeface="Cambria Math" panose="02040503050406030204" pitchFamily="18" charset="0"/>
                        </a:rPr>
                        <a:t>0.9851851851851852</a:t>
                      </a:r>
                    </a:p>
                  </a:txBody>
                  <a:tcPr marL="9842" marR="9842" marT="9842" marB="0" anchor="ctr"/>
                </a:tc>
                <a:extLst>
                  <a:ext uri="{0D108BD9-81ED-4DB2-BD59-A6C34878D82A}">
                    <a16:rowId xmlns:a16="http://schemas.microsoft.com/office/drawing/2014/main" val="10001"/>
                  </a:ext>
                </a:extLst>
              </a:tr>
              <a:tr h="252088">
                <a:tc>
                  <a:txBody>
                    <a:bodyPr/>
                    <a:lstStyle/>
                    <a:p>
                      <a:pPr algn="ctr" fontAlgn="ctr"/>
                      <a:r>
                        <a:rPr sz="1100" b="1" dirty="0">
                          <a:latin typeface="Bookman Old Style" panose="02050604050505020204" pitchFamily="18" charset="0"/>
                        </a:rPr>
                        <a:t>Decision Tree</a:t>
                      </a:r>
                    </a:p>
                  </a:txBody>
                  <a:tcPr marL="9842" marR="9842" marT="9842" marB="0" anchor="ctr"/>
                </a:tc>
                <a:tc>
                  <a:txBody>
                    <a:bodyPr/>
                    <a:lstStyle/>
                    <a:p>
                      <a:pPr algn="ctr" fontAlgn="ctr"/>
                      <a:r>
                        <a:rPr sz="1100" dirty="0">
                          <a:latin typeface="Cambria Math" panose="02040503050406030204" pitchFamily="18" charset="0"/>
                          <a:ea typeface="Cambria Math" panose="02040503050406030204" pitchFamily="18" charset="0"/>
                        </a:rPr>
                        <a:t>1</a:t>
                      </a:r>
                    </a:p>
                  </a:txBody>
                  <a:tcPr marL="9842" marR="9842" marT="9842" marB="0" anchor="ctr"/>
                </a:tc>
                <a:tc>
                  <a:txBody>
                    <a:bodyPr/>
                    <a:lstStyle/>
                    <a:p>
                      <a:pPr algn="ctr" fontAlgn="ctr"/>
                      <a:r>
                        <a:rPr sz="1100" dirty="0">
                          <a:latin typeface="Cambria Math" panose="02040503050406030204" pitchFamily="18" charset="0"/>
                          <a:ea typeface="Cambria Math" panose="02040503050406030204" pitchFamily="18" charset="0"/>
                        </a:rPr>
                        <a:t>1</a:t>
                      </a:r>
                    </a:p>
                  </a:txBody>
                  <a:tcPr marL="9842" marR="9842" marT="9842" marB="0" anchor="ctr"/>
                </a:tc>
                <a:tc>
                  <a:txBody>
                    <a:bodyPr/>
                    <a:lstStyle/>
                    <a:p>
                      <a:pPr algn="ctr" fontAlgn="ctr"/>
                      <a:r>
                        <a:rPr sz="1100" dirty="0">
                          <a:latin typeface="Cambria Math" panose="02040503050406030204" pitchFamily="18" charset="0"/>
                          <a:ea typeface="Cambria Math" panose="02040503050406030204" pitchFamily="18" charset="0"/>
                        </a:rPr>
                        <a:t>1</a:t>
                      </a:r>
                    </a:p>
                  </a:txBody>
                  <a:tcPr marL="9842" marR="9842" marT="9842" marB="0" anchor="ctr"/>
                </a:tc>
                <a:tc>
                  <a:txBody>
                    <a:bodyPr/>
                    <a:lstStyle/>
                    <a:p>
                      <a:pPr algn="ctr" fontAlgn="ctr"/>
                      <a:r>
                        <a:rPr sz="1100" dirty="0">
                          <a:latin typeface="Cambria Math" panose="02040503050406030204" pitchFamily="18" charset="0"/>
                          <a:ea typeface="Cambria Math" panose="02040503050406030204" pitchFamily="18" charset="0"/>
                        </a:rPr>
                        <a:t>1</a:t>
                      </a:r>
                    </a:p>
                  </a:txBody>
                  <a:tcPr marL="9842" marR="9842" marT="9842" marB="0" anchor="ctr"/>
                </a:tc>
                <a:extLst>
                  <a:ext uri="{0D108BD9-81ED-4DB2-BD59-A6C34878D82A}">
                    <a16:rowId xmlns:a16="http://schemas.microsoft.com/office/drawing/2014/main" val="10002"/>
                  </a:ext>
                </a:extLst>
              </a:tr>
              <a:tr h="252088">
                <a:tc>
                  <a:txBody>
                    <a:bodyPr/>
                    <a:lstStyle/>
                    <a:p>
                      <a:pPr algn="ctr" fontAlgn="ctr"/>
                      <a:r>
                        <a:rPr sz="1100" b="1" dirty="0">
                          <a:latin typeface="Bookman Old Style" panose="02050604050505020204" pitchFamily="18" charset="0"/>
                        </a:rPr>
                        <a:t>Random Forest</a:t>
                      </a:r>
                    </a:p>
                  </a:txBody>
                  <a:tcPr marL="9842" marR="9842" marT="9842" marB="0" anchor="ctr"/>
                </a:tc>
                <a:tc>
                  <a:txBody>
                    <a:bodyPr/>
                    <a:lstStyle/>
                    <a:p>
                      <a:pPr algn="ctr" fontAlgn="ctr"/>
                      <a:r>
                        <a:rPr sz="1100" dirty="0">
                          <a:latin typeface="Cambria Math" panose="02040503050406030204" pitchFamily="18" charset="0"/>
                          <a:ea typeface="Cambria Math" panose="02040503050406030204" pitchFamily="18" charset="0"/>
                        </a:rPr>
                        <a:t>1</a:t>
                      </a:r>
                    </a:p>
                  </a:txBody>
                  <a:tcPr marL="9842" marR="9842" marT="9842" marB="0" anchor="ctr"/>
                </a:tc>
                <a:tc>
                  <a:txBody>
                    <a:bodyPr/>
                    <a:lstStyle/>
                    <a:p>
                      <a:pPr algn="ctr" fontAlgn="ctr"/>
                      <a:r>
                        <a:rPr sz="1100" dirty="0">
                          <a:latin typeface="Cambria Math" panose="02040503050406030204" pitchFamily="18" charset="0"/>
                          <a:ea typeface="Cambria Math" panose="02040503050406030204" pitchFamily="18" charset="0"/>
                        </a:rPr>
                        <a:t>1</a:t>
                      </a:r>
                    </a:p>
                  </a:txBody>
                  <a:tcPr marL="9842" marR="9842" marT="9842" marB="0" anchor="ctr"/>
                </a:tc>
                <a:tc>
                  <a:txBody>
                    <a:bodyPr/>
                    <a:lstStyle/>
                    <a:p>
                      <a:pPr algn="ctr" fontAlgn="ctr"/>
                      <a:r>
                        <a:rPr sz="1100" dirty="0">
                          <a:latin typeface="Cambria Math" panose="02040503050406030204" pitchFamily="18" charset="0"/>
                          <a:ea typeface="Cambria Math" panose="02040503050406030204" pitchFamily="18" charset="0"/>
                        </a:rPr>
                        <a:t>1</a:t>
                      </a:r>
                    </a:p>
                  </a:txBody>
                  <a:tcPr marL="9842" marR="9842" marT="9842" marB="0" anchor="ctr"/>
                </a:tc>
                <a:tc>
                  <a:txBody>
                    <a:bodyPr/>
                    <a:lstStyle/>
                    <a:p>
                      <a:pPr algn="ctr" fontAlgn="ctr"/>
                      <a:r>
                        <a:rPr sz="1100" dirty="0">
                          <a:latin typeface="Cambria Math" panose="02040503050406030204" pitchFamily="18" charset="0"/>
                          <a:ea typeface="Cambria Math" panose="02040503050406030204" pitchFamily="18" charset="0"/>
                        </a:rPr>
                        <a:t>1</a:t>
                      </a:r>
                    </a:p>
                  </a:txBody>
                  <a:tcPr marL="9842" marR="9842" marT="9842" marB="0" anchor="ctr"/>
                </a:tc>
                <a:extLst>
                  <a:ext uri="{0D108BD9-81ED-4DB2-BD59-A6C34878D82A}">
                    <a16:rowId xmlns:a16="http://schemas.microsoft.com/office/drawing/2014/main" val="10003"/>
                  </a:ext>
                </a:extLst>
              </a:tr>
              <a:tr h="252088">
                <a:tc>
                  <a:txBody>
                    <a:bodyPr/>
                    <a:lstStyle/>
                    <a:p>
                      <a:pPr algn="ctr" fontAlgn="ctr"/>
                      <a:r>
                        <a:rPr sz="1100" b="1" dirty="0">
                          <a:latin typeface="Bookman Old Style" panose="02050604050505020204" pitchFamily="18" charset="0"/>
                        </a:rPr>
                        <a:t>KNN</a:t>
                      </a:r>
                    </a:p>
                  </a:txBody>
                  <a:tcPr marL="9842" marR="9842" marT="9842" marB="0" anchor="ctr"/>
                </a:tc>
                <a:tc>
                  <a:txBody>
                    <a:bodyPr/>
                    <a:lstStyle/>
                    <a:p>
                      <a:pPr algn="ctr" fontAlgn="ctr"/>
                      <a:r>
                        <a:rPr sz="1100" dirty="0">
                          <a:latin typeface="Cambria Math" panose="02040503050406030204" pitchFamily="18" charset="0"/>
                          <a:ea typeface="Cambria Math" panose="02040503050406030204" pitchFamily="18" charset="0"/>
                        </a:rPr>
                        <a:t>0.976878612716763</a:t>
                      </a:r>
                    </a:p>
                  </a:txBody>
                  <a:tcPr marL="9842" marR="9842" marT="9842" marB="0" anchor="ctr"/>
                </a:tc>
                <a:tc>
                  <a:txBody>
                    <a:bodyPr/>
                    <a:lstStyle/>
                    <a:p>
                      <a:pPr algn="ctr" fontAlgn="ctr"/>
                      <a:r>
                        <a:rPr sz="1100" dirty="0">
                          <a:latin typeface="Cambria Math" panose="02040503050406030204" pitchFamily="18" charset="0"/>
                          <a:ea typeface="Cambria Math" panose="02040503050406030204" pitchFamily="18" charset="0"/>
                        </a:rPr>
                        <a:t>0.9852941176470589</a:t>
                      </a:r>
                    </a:p>
                  </a:txBody>
                  <a:tcPr marL="9842" marR="9842" marT="9842" marB="0" anchor="ctr"/>
                </a:tc>
                <a:tc>
                  <a:txBody>
                    <a:bodyPr/>
                    <a:lstStyle/>
                    <a:p>
                      <a:pPr algn="ctr" fontAlgn="ctr"/>
                      <a:r>
                        <a:rPr sz="1100" dirty="0">
                          <a:latin typeface="Cambria Math" panose="02040503050406030204" pitchFamily="18" charset="0"/>
                          <a:ea typeface="Cambria Math" panose="02040503050406030204" pitchFamily="18" charset="0"/>
                        </a:rPr>
                        <a:t>0.9852941176470589</a:t>
                      </a:r>
                    </a:p>
                  </a:txBody>
                  <a:tcPr marL="9842" marR="9842" marT="9842" marB="0" anchor="ctr"/>
                </a:tc>
                <a:tc>
                  <a:txBody>
                    <a:bodyPr/>
                    <a:lstStyle/>
                    <a:p>
                      <a:pPr algn="ctr" fontAlgn="ctr"/>
                      <a:r>
                        <a:rPr sz="1100" dirty="0">
                          <a:latin typeface="Cambria Math" panose="02040503050406030204" pitchFamily="18" charset="0"/>
                          <a:ea typeface="Cambria Math" panose="02040503050406030204" pitchFamily="18" charset="0"/>
                        </a:rPr>
                        <a:t>0.9852941176470589</a:t>
                      </a:r>
                    </a:p>
                  </a:txBody>
                  <a:tcPr marL="9842" marR="9842" marT="9842" marB="0" anchor="ctr"/>
                </a:tc>
                <a:extLst>
                  <a:ext uri="{0D108BD9-81ED-4DB2-BD59-A6C34878D82A}">
                    <a16:rowId xmlns:a16="http://schemas.microsoft.com/office/drawing/2014/main" val="10004"/>
                  </a:ext>
                </a:extLst>
              </a:tr>
              <a:tr h="252088">
                <a:tc>
                  <a:txBody>
                    <a:bodyPr/>
                    <a:lstStyle/>
                    <a:p>
                      <a:pPr algn="ctr" fontAlgn="ctr"/>
                      <a:r>
                        <a:rPr sz="1100" b="1" dirty="0">
                          <a:latin typeface="Bookman Old Style" panose="02050604050505020204" pitchFamily="18" charset="0"/>
                        </a:rPr>
                        <a:t>SVM</a:t>
                      </a:r>
                    </a:p>
                  </a:txBody>
                  <a:tcPr marL="9842" marR="9842" marT="9842" marB="0" anchor="ctr"/>
                </a:tc>
                <a:tc>
                  <a:txBody>
                    <a:bodyPr/>
                    <a:lstStyle/>
                    <a:p>
                      <a:pPr algn="ctr" fontAlgn="ctr"/>
                      <a:r>
                        <a:rPr sz="1100" dirty="0">
                          <a:latin typeface="Cambria Math" panose="02040503050406030204" pitchFamily="18" charset="0"/>
                          <a:ea typeface="Cambria Math" panose="02040503050406030204" pitchFamily="18" charset="0"/>
                        </a:rPr>
                        <a:t>0.9653179190751445</a:t>
                      </a:r>
                    </a:p>
                  </a:txBody>
                  <a:tcPr marL="9842" marR="9842" marT="9842" marB="0" anchor="ctr"/>
                </a:tc>
                <a:tc>
                  <a:txBody>
                    <a:bodyPr/>
                    <a:lstStyle/>
                    <a:p>
                      <a:pPr algn="ctr" fontAlgn="ctr"/>
                      <a:r>
                        <a:rPr sz="1100" dirty="0">
                          <a:latin typeface="Cambria Math" panose="02040503050406030204" pitchFamily="18" charset="0"/>
                          <a:ea typeface="Cambria Math" panose="02040503050406030204" pitchFamily="18" charset="0"/>
                        </a:rPr>
                        <a:t>0.9710144927536232</a:t>
                      </a:r>
                    </a:p>
                  </a:txBody>
                  <a:tcPr marL="9842" marR="9842" marT="9842" marB="0" anchor="ctr"/>
                </a:tc>
                <a:tc>
                  <a:txBody>
                    <a:bodyPr/>
                    <a:lstStyle/>
                    <a:p>
                      <a:pPr algn="ctr" fontAlgn="ctr"/>
                      <a:r>
                        <a:rPr sz="1100" dirty="0">
                          <a:latin typeface="Cambria Math" panose="02040503050406030204" pitchFamily="18" charset="0"/>
                          <a:ea typeface="Cambria Math" panose="02040503050406030204" pitchFamily="18" charset="0"/>
                        </a:rPr>
                        <a:t>0.9852941176470589</a:t>
                      </a:r>
                    </a:p>
                  </a:txBody>
                  <a:tcPr marL="9842" marR="9842" marT="9842" marB="0" anchor="ctr"/>
                </a:tc>
                <a:tc>
                  <a:txBody>
                    <a:bodyPr/>
                    <a:lstStyle/>
                    <a:p>
                      <a:pPr algn="ctr" fontAlgn="ctr"/>
                      <a:r>
                        <a:rPr sz="1100" dirty="0">
                          <a:latin typeface="Cambria Math" panose="02040503050406030204" pitchFamily="18" charset="0"/>
                          <a:ea typeface="Cambria Math" panose="02040503050406030204" pitchFamily="18" charset="0"/>
                        </a:rPr>
                        <a:t>0.9781021897810219</a:t>
                      </a:r>
                    </a:p>
                  </a:txBody>
                  <a:tcPr marL="9842" marR="9842" marT="9842" marB="0" anchor="ctr"/>
                </a:tc>
                <a:extLst>
                  <a:ext uri="{0D108BD9-81ED-4DB2-BD59-A6C34878D82A}">
                    <a16:rowId xmlns:a16="http://schemas.microsoft.com/office/drawing/2014/main" val="10005"/>
                  </a:ext>
                </a:extLst>
              </a:tr>
            </a:tbl>
          </a:graphicData>
        </a:graphic>
      </p:graphicFrame>
      <p:graphicFrame>
        <p:nvGraphicFramePr>
          <p:cNvPr id="8" name="Table 7">
            <a:extLst>
              <a:ext uri="{FF2B5EF4-FFF2-40B4-BE49-F238E27FC236}">
                <a16:creationId xmlns:a16="http://schemas.microsoft.com/office/drawing/2014/main" id="{5E30A654-B390-1E74-DC70-8E10FD500F16}"/>
              </a:ext>
            </a:extLst>
          </p:cNvPr>
          <p:cNvGraphicFramePr/>
          <p:nvPr>
            <p:extLst>
              <p:ext uri="{D42A27DB-BD31-4B8C-83A1-F6EECF244321}">
                <p14:modId xmlns:p14="http://schemas.microsoft.com/office/powerpoint/2010/main" val="2429288227"/>
              </p:ext>
            </p:extLst>
          </p:nvPr>
        </p:nvGraphicFramePr>
        <p:xfrm>
          <a:off x="1128427" y="2999892"/>
          <a:ext cx="4884183" cy="1313315"/>
        </p:xfrm>
        <a:graphic>
          <a:graphicData uri="http://schemas.openxmlformats.org/drawingml/2006/table">
            <a:tbl>
              <a:tblPr>
                <a:tableStyleId>{69CF1AB2-1976-4502-BF36-3FF5EA218861}</a:tableStyleId>
              </a:tblPr>
              <a:tblGrid>
                <a:gridCol w="1613453">
                  <a:extLst>
                    <a:ext uri="{9D8B030D-6E8A-4147-A177-3AD203B41FA5}">
                      <a16:colId xmlns:a16="http://schemas.microsoft.com/office/drawing/2014/main" val="20000"/>
                    </a:ext>
                  </a:extLst>
                </a:gridCol>
                <a:gridCol w="1646155">
                  <a:extLst>
                    <a:ext uri="{9D8B030D-6E8A-4147-A177-3AD203B41FA5}">
                      <a16:colId xmlns:a16="http://schemas.microsoft.com/office/drawing/2014/main" val="20001"/>
                    </a:ext>
                  </a:extLst>
                </a:gridCol>
                <a:gridCol w="1624575">
                  <a:extLst>
                    <a:ext uri="{9D8B030D-6E8A-4147-A177-3AD203B41FA5}">
                      <a16:colId xmlns:a16="http://schemas.microsoft.com/office/drawing/2014/main" val="20002"/>
                    </a:ext>
                  </a:extLst>
                </a:gridCol>
              </a:tblGrid>
              <a:tr h="292400">
                <a:tc>
                  <a:txBody>
                    <a:bodyPr/>
                    <a:lstStyle/>
                    <a:p>
                      <a:pPr marL="0" indent="0" algn="ctr" fontAlgn="ctr">
                        <a:spcBef>
                          <a:spcPct val="0"/>
                        </a:spcBef>
                        <a:spcAft>
                          <a:spcPct val="0"/>
                        </a:spcAft>
                      </a:pPr>
                      <a:r>
                        <a:rPr sz="1100" b="1" u="sng" dirty="0">
                          <a:solidFill>
                            <a:schemeClr val="bg1"/>
                          </a:solidFill>
                          <a:latin typeface="Bookman Old Style" panose="02050604050505020204" pitchFamily="18" charset="0"/>
                        </a:rPr>
                        <a:t>Model</a:t>
                      </a:r>
                      <a:endParaRPr sz="1100" b="1" u="sng" dirty="0">
                        <a:solidFill>
                          <a:schemeClr val="bg1"/>
                        </a:solidFill>
                        <a:latin typeface="Bookman Old Style" panose="02050604050505020204" pitchFamily="18" charset="0"/>
                        <a:ea typeface="SimSun" panose="02010600030101010101" pitchFamily="2" charset="-122"/>
                      </a:endParaRPr>
                    </a:p>
                  </a:txBody>
                  <a:tcPr marL="68580" marR="68580" marT="0" marB="0" anchor="ctr"/>
                </a:tc>
                <a:tc>
                  <a:txBody>
                    <a:bodyPr/>
                    <a:lstStyle/>
                    <a:p>
                      <a:pPr marL="0" indent="0" algn="ctr" fontAlgn="ctr">
                        <a:spcBef>
                          <a:spcPct val="0"/>
                        </a:spcBef>
                        <a:spcAft>
                          <a:spcPct val="0"/>
                        </a:spcAft>
                      </a:pPr>
                      <a:r>
                        <a:rPr sz="1100" b="1" u="sng" dirty="0">
                          <a:solidFill>
                            <a:schemeClr val="bg1"/>
                          </a:solidFill>
                          <a:latin typeface="Bookman Old Style" panose="02050604050505020204" pitchFamily="18" charset="0"/>
                        </a:rPr>
                        <a:t>MSE</a:t>
                      </a:r>
                      <a:endParaRPr sz="1100" b="1" u="sng" dirty="0">
                        <a:solidFill>
                          <a:schemeClr val="bg1"/>
                        </a:solidFill>
                        <a:latin typeface="Bookman Old Style" panose="02050604050505020204" pitchFamily="18" charset="0"/>
                        <a:ea typeface="SimSun" panose="02010600030101010101" pitchFamily="2" charset="-122"/>
                      </a:endParaRPr>
                    </a:p>
                  </a:txBody>
                  <a:tcPr marL="68580" marR="68580" marT="0" marB="0" anchor="ctr"/>
                </a:tc>
                <a:tc>
                  <a:txBody>
                    <a:bodyPr/>
                    <a:lstStyle/>
                    <a:p>
                      <a:pPr marL="0" indent="0" algn="ctr" fontAlgn="ctr">
                        <a:spcBef>
                          <a:spcPct val="0"/>
                        </a:spcBef>
                        <a:spcAft>
                          <a:spcPct val="0"/>
                        </a:spcAft>
                      </a:pPr>
                      <a:r>
                        <a:rPr sz="1100" b="1" u="sng" dirty="0">
                          <a:solidFill>
                            <a:schemeClr val="bg1"/>
                          </a:solidFill>
                          <a:latin typeface="Bookman Old Style" panose="02050604050505020204" pitchFamily="18" charset="0"/>
                        </a:rPr>
                        <a:t>R</a:t>
                      </a:r>
                      <a:r>
                        <a:rPr lang="en-IN" sz="1100" b="1" u="sng" dirty="0">
                          <a:solidFill>
                            <a:schemeClr val="bg1"/>
                          </a:solidFill>
                          <a:latin typeface="Bookman Old Style" panose="02050604050505020204" pitchFamily="18" charset="0"/>
                        </a:rPr>
                        <a:t>²</a:t>
                      </a:r>
                      <a:r>
                        <a:rPr sz="1100" b="1" u="sng" dirty="0">
                          <a:solidFill>
                            <a:schemeClr val="bg1"/>
                          </a:solidFill>
                          <a:latin typeface="Bookman Old Style" panose="02050604050505020204" pitchFamily="18" charset="0"/>
                        </a:rPr>
                        <a:t> Score</a:t>
                      </a:r>
                      <a:endParaRPr sz="1100" b="1" u="sng" dirty="0">
                        <a:solidFill>
                          <a:schemeClr val="bg1"/>
                        </a:solidFill>
                        <a:latin typeface="Bookman Old Style" panose="020506040505050202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10000"/>
                  </a:ext>
                </a:extLst>
              </a:tr>
              <a:tr h="340305">
                <a:tc>
                  <a:txBody>
                    <a:bodyPr/>
                    <a:lstStyle/>
                    <a:p>
                      <a:pPr marL="0" indent="0" algn="ctr" fontAlgn="ctr">
                        <a:spcBef>
                          <a:spcPct val="0"/>
                        </a:spcBef>
                        <a:spcAft>
                          <a:spcPct val="0"/>
                        </a:spcAft>
                      </a:pPr>
                      <a:r>
                        <a:rPr sz="1100" b="1" dirty="0">
                          <a:solidFill>
                            <a:schemeClr val="bg1"/>
                          </a:solidFill>
                          <a:latin typeface="Bookman Old Style" panose="02050604050505020204" pitchFamily="18" charset="0"/>
                        </a:rPr>
                        <a:t>Linear Regression</a:t>
                      </a:r>
                      <a:endParaRPr sz="1100" b="1" dirty="0">
                        <a:solidFill>
                          <a:schemeClr val="bg1"/>
                        </a:solidFill>
                        <a:latin typeface="Bookman Old Style" panose="02050604050505020204" pitchFamily="18" charset="0"/>
                        <a:ea typeface="SimSun" panose="02010600030101010101" pitchFamily="2" charset="-122"/>
                      </a:endParaRPr>
                    </a:p>
                  </a:txBody>
                  <a:tcPr marL="68580" marR="68580" marT="0" marB="0" anchor="ctr"/>
                </a:tc>
                <a:tc>
                  <a:txBody>
                    <a:bodyPr/>
                    <a:lstStyle/>
                    <a:p>
                      <a:pPr marL="0" indent="0" algn="ctr" fontAlgn="ctr">
                        <a:spcBef>
                          <a:spcPct val="0"/>
                        </a:spcBef>
                        <a:spcAft>
                          <a:spcPct val="0"/>
                        </a:spcAft>
                      </a:pPr>
                      <a:r>
                        <a:rPr sz="1100" dirty="0">
                          <a:solidFill>
                            <a:srgbClr val="000000"/>
                          </a:solidFill>
                          <a:latin typeface="Cambria Math" panose="02040503050406030204" pitchFamily="18" charset="0"/>
                          <a:ea typeface="Cambria Math" panose="02040503050406030204" pitchFamily="18" charset="0"/>
                        </a:rPr>
                        <a:t>29.944495688184375</a:t>
                      </a:r>
                    </a:p>
                  </a:txBody>
                  <a:tcPr marL="68580" marR="68580" marT="0" marB="0" anchor="ctr"/>
                </a:tc>
                <a:tc>
                  <a:txBody>
                    <a:bodyPr/>
                    <a:lstStyle/>
                    <a:p>
                      <a:pPr marL="0" indent="0" algn="ctr" fontAlgn="ctr">
                        <a:spcBef>
                          <a:spcPct val="0"/>
                        </a:spcBef>
                        <a:spcAft>
                          <a:spcPct val="0"/>
                        </a:spcAft>
                      </a:pPr>
                      <a:r>
                        <a:rPr sz="1100" dirty="0">
                          <a:solidFill>
                            <a:srgbClr val="000000"/>
                          </a:solidFill>
                          <a:latin typeface="Cambria Math" panose="02040503050406030204" pitchFamily="18" charset="0"/>
                          <a:ea typeface="Cambria Math" panose="02040503050406030204" pitchFamily="18" charset="0"/>
                        </a:rPr>
                        <a:t>0.6811424035886136</a:t>
                      </a:r>
                    </a:p>
                  </a:txBody>
                  <a:tcPr marL="68580" marR="68580" marT="0" marB="0" anchor="ctr"/>
                </a:tc>
                <a:extLst>
                  <a:ext uri="{0D108BD9-81ED-4DB2-BD59-A6C34878D82A}">
                    <a16:rowId xmlns:a16="http://schemas.microsoft.com/office/drawing/2014/main" val="10001"/>
                  </a:ext>
                </a:extLst>
              </a:tr>
              <a:tr h="340305">
                <a:tc>
                  <a:txBody>
                    <a:bodyPr/>
                    <a:lstStyle/>
                    <a:p>
                      <a:pPr marL="0" indent="0" algn="ctr" fontAlgn="ctr">
                        <a:spcBef>
                          <a:spcPct val="0"/>
                        </a:spcBef>
                        <a:spcAft>
                          <a:spcPct val="0"/>
                        </a:spcAft>
                      </a:pPr>
                      <a:r>
                        <a:rPr sz="1100" b="1" dirty="0">
                          <a:solidFill>
                            <a:schemeClr val="bg1"/>
                          </a:solidFill>
                          <a:latin typeface="Bookman Old Style" panose="02050604050505020204" pitchFamily="18" charset="0"/>
                        </a:rPr>
                        <a:t>Random Forest</a:t>
                      </a:r>
                      <a:endParaRPr sz="1100" b="1" dirty="0">
                        <a:solidFill>
                          <a:schemeClr val="bg1"/>
                        </a:solidFill>
                        <a:latin typeface="Bookman Old Style" panose="02050604050505020204" pitchFamily="18" charset="0"/>
                        <a:ea typeface="SimSun" panose="02010600030101010101" pitchFamily="2" charset="-122"/>
                      </a:endParaRPr>
                    </a:p>
                  </a:txBody>
                  <a:tcPr marL="68580" marR="68580" marT="0" marB="0" anchor="ctr"/>
                </a:tc>
                <a:tc>
                  <a:txBody>
                    <a:bodyPr/>
                    <a:lstStyle/>
                    <a:p>
                      <a:pPr marL="0" indent="0" algn="ctr" fontAlgn="ctr">
                        <a:spcBef>
                          <a:spcPct val="0"/>
                        </a:spcBef>
                        <a:spcAft>
                          <a:spcPct val="0"/>
                        </a:spcAft>
                      </a:pPr>
                      <a:r>
                        <a:rPr sz="1100" dirty="0">
                          <a:solidFill>
                            <a:srgbClr val="000000"/>
                          </a:solidFill>
                          <a:latin typeface="Cambria Math" panose="02040503050406030204" pitchFamily="18" charset="0"/>
                          <a:ea typeface="Cambria Math" panose="02040503050406030204" pitchFamily="18" charset="0"/>
                        </a:rPr>
                        <a:t>5.417698684698235</a:t>
                      </a:r>
                    </a:p>
                  </a:txBody>
                  <a:tcPr marL="68580" marR="68580" marT="0" marB="0" anchor="ctr"/>
                </a:tc>
                <a:tc>
                  <a:txBody>
                    <a:bodyPr/>
                    <a:lstStyle/>
                    <a:p>
                      <a:pPr marL="0" indent="0" algn="ctr" fontAlgn="ctr">
                        <a:spcBef>
                          <a:spcPct val="0"/>
                        </a:spcBef>
                        <a:spcAft>
                          <a:spcPct val="0"/>
                        </a:spcAft>
                      </a:pPr>
                      <a:r>
                        <a:rPr sz="1100" dirty="0">
                          <a:solidFill>
                            <a:srgbClr val="000000"/>
                          </a:solidFill>
                          <a:latin typeface="Cambria Math" panose="02040503050406030204" pitchFamily="18" charset="0"/>
                          <a:ea typeface="Cambria Math" panose="02040503050406030204" pitchFamily="18" charset="0"/>
                        </a:rPr>
                        <a:t>0.9423107873088795</a:t>
                      </a:r>
                    </a:p>
                  </a:txBody>
                  <a:tcPr marL="68580" marR="68580" marT="0" marB="0" anchor="ctr"/>
                </a:tc>
                <a:extLst>
                  <a:ext uri="{0D108BD9-81ED-4DB2-BD59-A6C34878D82A}">
                    <a16:rowId xmlns:a16="http://schemas.microsoft.com/office/drawing/2014/main" val="10002"/>
                  </a:ext>
                </a:extLst>
              </a:tr>
              <a:tr h="340305">
                <a:tc>
                  <a:txBody>
                    <a:bodyPr/>
                    <a:lstStyle/>
                    <a:p>
                      <a:pPr marL="0" indent="0" algn="ctr" fontAlgn="ctr">
                        <a:spcBef>
                          <a:spcPct val="0"/>
                        </a:spcBef>
                        <a:spcAft>
                          <a:spcPct val="0"/>
                        </a:spcAft>
                      </a:pPr>
                      <a:r>
                        <a:rPr sz="1100" b="1" dirty="0" err="1">
                          <a:solidFill>
                            <a:schemeClr val="bg1"/>
                          </a:solidFill>
                          <a:latin typeface="Bookman Old Style" panose="02050604050505020204" pitchFamily="18" charset="0"/>
                        </a:rPr>
                        <a:t>XGBoost</a:t>
                      </a:r>
                      <a:endParaRPr sz="1100" b="1" dirty="0">
                        <a:solidFill>
                          <a:schemeClr val="bg1"/>
                        </a:solidFill>
                        <a:latin typeface="Bookman Old Style" panose="02050604050505020204" pitchFamily="18" charset="0"/>
                        <a:ea typeface="SimSun" panose="02010600030101010101" pitchFamily="2" charset="-122"/>
                      </a:endParaRPr>
                    </a:p>
                  </a:txBody>
                  <a:tcPr marL="68580" marR="68580" marT="0" marB="0" anchor="ctr"/>
                </a:tc>
                <a:tc>
                  <a:txBody>
                    <a:bodyPr/>
                    <a:lstStyle/>
                    <a:p>
                      <a:pPr marL="0" indent="0" algn="ctr" fontAlgn="ctr">
                        <a:spcBef>
                          <a:spcPct val="0"/>
                        </a:spcBef>
                        <a:spcAft>
                          <a:spcPct val="0"/>
                        </a:spcAft>
                      </a:pPr>
                      <a:r>
                        <a:rPr sz="1100" dirty="0">
                          <a:solidFill>
                            <a:srgbClr val="000000"/>
                          </a:solidFill>
                          <a:latin typeface="Cambria Math" panose="02040503050406030204" pitchFamily="18" charset="0"/>
                          <a:ea typeface="Cambria Math" panose="02040503050406030204" pitchFamily="18" charset="0"/>
                        </a:rPr>
                        <a:t>9.16129938564439</a:t>
                      </a:r>
                    </a:p>
                  </a:txBody>
                  <a:tcPr marL="68580" marR="68580" marT="0" marB="0" anchor="ctr"/>
                </a:tc>
                <a:tc>
                  <a:txBody>
                    <a:bodyPr/>
                    <a:lstStyle/>
                    <a:p>
                      <a:pPr marL="0" indent="0" algn="ctr" fontAlgn="ctr">
                        <a:spcBef>
                          <a:spcPct val="0"/>
                        </a:spcBef>
                        <a:spcAft>
                          <a:spcPct val="0"/>
                        </a:spcAft>
                      </a:pPr>
                      <a:r>
                        <a:rPr sz="1100" dirty="0">
                          <a:solidFill>
                            <a:srgbClr val="000000"/>
                          </a:solidFill>
                          <a:latin typeface="Cambria Math" panose="02040503050406030204" pitchFamily="18" charset="0"/>
                          <a:ea typeface="Cambria Math" panose="02040503050406030204" pitchFamily="18" charset="0"/>
                        </a:rPr>
                        <a:t>0.9024478510999161</a:t>
                      </a:r>
                    </a:p>
                  </a:txBody>
                  <a:tcPr marL="68580" marR="68580" marT="0"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80004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3CDEA-3CE2-D10C-8225-B8B8CA56ADE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61A8EA-0AB8-C2A3-6BA8-9EB5FCA4ACF5}"/>
              </a:ext>
            </a:extLst>
          </p:cNvPr>
          <p:cNvSpPr txBox="1"/>
          <p:nvPr/>
        </p:nvSpPr>
        <p:spPr>
          <a:xfrm>
            <a:off x="1045801" y="269605"/>
            <a:ext cx="10321281"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rPr>
              <a:t>INTELLIGENT DASHBOARD</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BA2BB47A-D12E-8E8F-F935-D1DBE205DAED}"/>
              </a:ext>
            </a:extLst>
          </p:cNvPr>
          <p:cNvSpPr txBox="1"/>
          <p:nvPr/>
        </p:nvSpPr>
        <p:spPr>
          <a:xfrm>
            <a:off x="11308360" y="5823604"/>
            <a:ext cx="959141"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⟮19⟯</a:t>
            </a:r>
          </a:p>
        </p:txBody>
      </p:sp>
      <p:sp>
        <p:nvSpPr>
          <p:cNvPr id="7" name="TextBox 6">
            <a:extLst>
              <a:ext uri="{FF2B5EF4-FFF2-40B4-BE49-F238E27FC236}">
                <a16:creationId xmlns:a16="http://schemas.microsoft.com/office/drawing/2014/main" id="{C6A7CD98-BF0E-5866-139F-6B470025FEEE}"/>
              </a:ext>
            </a:extLst>
          </p:cNvPr>
          <p:cNvSpPr txBox="1"/>
          <p:nvPr/>
        </p:nvSpPr>
        <p:spPr>
          <a:xfrm>
            <a:off x="9174583" y="3429000"/>
            <a:ext cx="1634631" cy="646331"/>
          </a:xfrm>
          <a:prstGeom prst="rect">
            <a:avLst/>
          </a:prstGeom>
          <a:noFill/>
        </p:spPr>
        <p:txBody>
          <a:bodyPr wrap="square">
            <a:spAutoFit/>
          </a:bodyPr>
          <a:lstStyle/>
          <a:p>
            <a:r>
              <a:rPr lang="en-US" i="1" dirty="0">
                <a:solidFill>
                  <a:srgbClr val="FFFF00"/>
                </a:solidFill>
                <a:latin typeface="Bookman Old Style" panose="02050604050505020204" pitchFamily="18" charset="0"/>
              </a:rPr>
              <a:t>Intelligent Dashboards</a:t>
            </a:r>
            <a:endParaRPr lang="en-US" i="1" dirty="0">
              <a:solidFill>
                <a:schemeClr val="accent1">
                  <a:lumMod val="40000"/>
                  <a:lumOff val="60000"/>
                </a:schemeClr>
              </a:solidFill>
              <a:latin typeface="Bookman Old Style" panose="02050604050505020204" pitchFamily="18" charset="0"/>
            </a:endParaRPr>
          </a:p>
        </p:txBody>
      </p:sp>
      <p:pic>
        <p:nvPicPr>
          <p:cNvPr id="9" name="Picture 95" descr="Screenshot (967)">
            <a:extLst>
              <a:ext uri="{FF2B5EF4-FFF2-40B4-BE49-F238E27FC236}">
                <a16:creationId xmlns:a16="http://schemas.microsoft.com/office/drawing/2014/main" id="{5DC3E157-5F1F-89CB-151C-34BEB99879FE}"/>
              </a:ext>
            </a:extLst>
          </p:cNvPr>
          <p:cNvPicPr>
            <a:picLocks noChangeAspect="1"/>
          </p:cNvPicPr>
          <p:nvPr/>
        </p:nvPicPr>
        <p:blipFill>
          <a:blip r:embed="rId2"/>
          <a:srcRect l="1708" t="12728" r="9155" b="5215"/>
          <a:stretch>
            <a:fillRect/>
          </a:stretch>
        </p:blipFill>
        <p:spPr>
          <a:xfrm>
            <a:off x="1126115" y="3812549"/>
            <a:ext cx="7155242" cy="2917053"/>
          </a:xfrm>
          <a:prstGeom prst="rect">
            <a:avLst/>
          </a:prstGeom>
          <a:ln w="31750">
            <a:solidFill>
              <a:schemeClr val="bg1"/>
            </a:solidFill>
          </a:ln>
          <a:effectLst>
            <a:glow rad="101600">
              <a:schemeClr val="accent1">
                <a:satMod val="175000"/>
                <a:alpha val="40000"/>
              </a:schemeClr>
            </a:glow>
          </a:effectLst>
        </p:spPr>
      </p:pic>
      <p:pic>
        <p:nvPicPr>
          <p:cNvPr id="10" name="Picture 94" descr="Screenshot (966)">
            <a:extLst>
              <a:ext uri="{FF2B5EF4-FFF2-40B4-BE49-F238E27FC236}">
                <a16:creationId xmlns:a16="http://schemas.microsoft.com/office/drawing/2014/main" id="{4CAF4059-C84A-207A-E66D-CB9297B239DA}"/>
              </a:ext>
            </a:extLst>
          </p:cNvPr>
          <p:cNvPicPr>
            <a:picLocks noChangeAspect="1"/>
          </p:cNvPicPr>
          <p:nvPr/>
        </p:nvPicPr>
        <p:blipFill>
          <a:blip r:embed="rId3"/>
          <a:srcRect l="1761" t="10859" r="3407" b="10854"/>
          <a:stretch>
            <a:fillRect/>
          </a:stretch>
        </p:blipFill>
        <p:spPr>
          <a:xfrm>
            <a:off x="1126114" y="1037876"/>
            <a:ext cx="7155243" cy="2615935"/>
          </a:xfrm>
          <a:prstGeom prst="rect">
            <a:avLst/>
          </a:prstGeom>
          <a:ln w="31750">
            <a:solidFill>
              <a:schemeClr val="bg1"/>
            </a:solidFill>
          </a:ln>
          <a:effectLst>
            <a:glow rad="101600">
              <a:schemeClr val="accent1">
                <a:satMod val="175000"/>
                <a:alpha val="40000"/>
              </a:schemeClr>
            </a:glow>
          </a:effectLst>
        </p:spPr>
      </p:pic>
    </p:spTree>
    <p:extLst>
      <p:ext uri="{BB962C8B-B14F-4D97-AF65-F5344CB8AC3E}">
        <p14:creationId xmlns:p14="http://schemas.microsoft.com/office/powerpoint/2010/main" val="1327536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F7445-1F73-679A-5EBE-67FF845E347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F9C7480-194B-D562-4279-C992E3E47E90}"/>
              </a:ext>
            </a:extLst>
          </p:cNvPr>
          <p:cNvSpPr txBox="1"/>
          <p:nvPr/>
        </p:nvSpPr>
        <p:spPr>
          <a:xfrm>
            <a:off x="1045801" y="269605"/>
            <a:ext cx="10321281"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rPr>
              <a:t>POWER BI VISUALISATION</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484CD29C-CD16-5BF8-9B03-134580D773A3}"/>
              </a:ext>
            </a:extLst>
          </p:cNvPr>
          <p:cNvSpPr txBox="1"/>
          <p:nvPr/>
        </p:nvSpPr>
        <p:spPr>
          <a:xfrm>
            <a:off x="11308360" y="5823604"/>
            <a:ext cx="959141"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⟮20⟯</a:t>
            </a:r>
          </a:p>
        </p:txBody>
      </p:sp>
      <p:pic>
        <p:nvPicPr>
          <p:cNvPr id="3" name="Picture 1" descr="15 p">
            <a:extLst>
              <a:ext uri="{FF2B5EF4-FFF2-40B4-BE49-F238E27FC236}">
                <a16:creationId xmlns:a16="http://schemas.microsoft.com/office/drawing/2014/main" id="{B92D990B-34D0-8777-4932-6D70AFAE3529}"/>
              </a:ext>
            </a:extLst>
          </p:cNvPr>
          <p:cNvPicPr>
            <a:picLocks noChangeAspect="1"/>
          </p:cNvPicPr>
          <p:nvPr/>
        </p:nvPicPr>
        <p:blipFill>
          <a:blip r:embed="rId2"/>
          <a:stretch>
            <a:fillRect/>
          </a:stretch>
        </p:blipFill>
        <p:spPr>
          <a:xfrm>
            <a:off x="1205191" y="1132393"/>
            <a:ext cx="4798173" cy="2680156"/>
          </a:xfrm>
          <a:prstGeom prst="rect">
            <a:avLst/>
          </a:prstGeom>
          <a:ln w="31750">
            <a:solidFill>
              <a:schemeClr val="bg1"/>
            </a:solidFill>
          </a:ln>
          <a:effectLst>
            <a:glow rad="101600">
              <a:schemeClr val="accent1">
                <a:satMod val="175000"/>
                <a:alpha val="40000"/>
              </a:schemeClr>
            </a:glow>
          </a:effectLst>
        </p:spPr>
      </p:pic>
      <p:pic>
        <p:nvPicPr>
          <p:cNvPr id="4" name="Picture 103" descr="18p">
            <a:extLst>
              <a:ext uri="{FF2B5EF4-FFF2-40B4-BE49-F238E27FC236}">
                <a16:creationId xmlns:a16="http://schemas.microsoft.com/office/drawing/2014/main" id="{79B3E283-80A5-3E74-CF07-A50E77F7E43E}"/>
              </a:ext>
            </a:extLst>
          </p:cNvPr>
          <p:cNvPicPr>
            <a:picLocks noChangeAspect="1"/>
          </p:cNvPicPr>
          <p:nvPr/>
        </p:nvPicPr>
        <p:blipFill>
          <a:blip r:embed="rId3"/>
          <a:stretch>
            <a:fillRect/>
          </a:stretch>
        </p:blipFill>
        <p:spPr>
          <a:xfrm>
            <a:off x="6181878" y="3967451"/>
            <a:ext cx="4804931" cy="2690996"/>
          </a:xfrm>
          <a:prstGeom prst="rect">
            <a:avLst/>
          </a:prstGeom>
          <a:ln w="31750">
            <a:solidFill>
              <a:schemeClr val="bg1"/>
            </a:solidFill>
          </a:ln>
          <a:effectLst>
            <a:glow rad="101600">
              <a:schemeClr val="accent1">
                <a:satMod val="175000"/>
                <a:alpha val="40000"/>
              </a:schemeClr>
            </a:glow>
          </a:effectLst>
        </p:spPr>
      </p:pic>
      <p:pic>
        <p:nvPicPr>
          <p:cNvPr id="5" name="Picture 4" descr="16p">
            <a:extLst>
              <a:ext uri="{FF2B5EF4-FFF2-40B4-BE49-F238E27FC236}">
                <a16:creationId xmlns:a16="http://schemas.microsoft.com/office/drawing/2014/main" id="{6D20FC23-11E5-32EB-2A7E-038C49742D1E}"/>
              </a:ext>
            </a:extLst>
          </p:cNvPr>
          <p:cNvPicPr>
            <a:picLocks noChangeAspect="1"/>
          </p:cNvPicPr>
          <p:nvPr/>
        </p:nvPicPr>
        <p:blipFill>
          <a:blip r:embed="rId4"/>
          <a:stretch>
            <a:fillRect/>
          </a:stretch>
        </p:blipFill>
        <p:spPr>
          <a:xfrm>
            <a:off x="6181878" y="1132393"/>
            <a:ext cx="4804931" cy="2680156"/>
          </a:xfrm>
          <a:prstGeom prst="rect">
            <a:avLst/>
          </a:prstGeom>
          <a:ln w="31750">
            <a:solidFill>
              <a:schemeClr val="bg1"/>
            </a:solidFill>
          </a:ln>
          <a:effectLst>
            <a:glow rad="101600">
              <a:schemeClr val="accent1">
                <a:satMod val="175000"/>
                <a:alpha val="40000"/>
              </a:schemeClr>
            </a:glow>
          </a:effectLst>
        </p:spPr>
      </p:pic>
      <p:pic>
        <p:nvPicPr>
          <p:cNvPr id="8" name="Picture 7" descr="17p">
            <a:extLst>
              <a:ext uri="{FF2B5EF4-FFF2-40B4-BE49-F238E27FC236}">
                <a16:creationId xmlns:a16="http://schemas.microsoft.com/office/drawing/2014/main" id="{68FA2123-669D-BD24-09B7-606804ABDC56}"/>
              </a:ext>
            </a:extLst>
          </p:cNvPr>
          <p:cNvPicPr>
            <a:picLocks noChangeAspect="1"/>
          </p:cNvPicPr>
          <p:nvPr/>
        </p:nvPicPr>
        <p:blipFill>
          <a:blip r:embed="rId5"/>
          <a:stretch>
            <a:fillRect/>
          </a:stretch>
        </p:blipFill>
        <p:spPr>
          <a:xfrm>
            <a:off x="1205191" y="3969771"/>
            <a:ext cx="4804931" cy="2691320"/>
          </a:xfrm>
          <a:prstGeom prst="rect">
            <a:avLst/>
          </a:prstGeom>
          <a:ln w="31750">
            <a:solidFill>
              <a:schemeClr val="bg1"/>
            </a:solidFill>
          </a:ln>
          <a:effectLst>
            <a:glow rad="101600">
              <a:schemeClr val="accent1">
                <a:satMod val="175000"/>
                <a:alpha val="40000"/>
              </a:schemeClr>
            </a:glow>
          </a:effectLst>
        </p:spPr>
      </p:pic>
    </p:spTree>
    <p:extLst>
      <p:ext uri="{BB962C8B-B14F-4D97-AF65-F5344CB8AC3E}">
        <p14:creationId xmlns:p14="http://schemas.microsoft.com/office/powerpoint/2010/main" val="24492691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70A77-599F-BA05-CEE7-4F73650FA0A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CA3B8CA-3D93-6AB5-7436-1939583E1820}"/>
              </a:ext>
            </a:extLst>
          </p:cNvPr>
          <p:cNvSpPr txBox="1"/>
          <p:nvPr/>
        </p:nvSpPr>
        <p:spPr>
          <a:xfrm>
            <a:off x="1045801" y="269605"/>
            <a:ext cx="10321281"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rPr>
              <a:t>WEB SERVER VISUALISATION</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8DEAF49E-ADDF-B83D-6E6A-82ACC3228FFE}"/>
              </a:ext>
            </a:extLst>
          </p:cNvPr>
          <p:cNvSpPr txBox="1"/>
          <p:nvPr/>
        </p:nvSpPr>
        <p:spPr>
          <a:xfrm>
            <a:off x="11308360" y="5823604"/>
            <a:ext cx="959141"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⟮21⟯</a:t>
            </a:r>
          </a:p>
        </p:txBody>
      </p:sp>
      <p:pic>
        <p:nvPicPr>
          <p:cNvPr id="7" name="Picture 98" descr="Screenshot (939)">
            <a:extLst>
              <a:ext uri="{FF2B5EF4-FFF2-40B4-BE49-F238E27FC236}">
                <a16:creationId xmlns:a16="http://schemas.microsoft.com/office/drawing/2014/main" id="{332AA7ED-D7AC-1EDC-C944-B26B35BCEFFC}"/>
              </a:ext>
            </a:extLst>
          </p:cNvPr>
          <p:cNvPicPr>
            <a:picLocks noChangeAspect="1"/>
          </p:cNvPicPr>
          <p:nvPr/>
        </p:nvPicPr>
        <p:blipFill>
          <a:blip r:embed="rId2"/>
          <a:srcRect t="11720" b="8790"/>
          <a:stretch>
            <a:fillRect/>
          </a:stretch>
        </p:blipFill>
        <p:spPr>
          <a:xfrm>
            <a:off x="1250244" y="1198018"/>
            <a:ext cx="5571238" cy="2489469"/>
          </a:xfrm>
          <a:prstGeom prst="rect">
            <a:avLst/>
          </a:prstGeom>
          <a:ln w="31750">
            <a:solidFill>
              <a:schemeClr val="bg1"/>
            </a:solidFill>
          </a:ln>
          <a:effectLst>
            <a:glow rad="101600">
              <a:schemeClr val="accent1">
                <a:satMod val="175000"/>
                <a:alpha val="40000"/>
              </a:schemeClr>
            </a:glow>
          </a:effectLst>
        </p:spPr>
      </p:pic>
      <p:pic>
        <p:nvPicPr>
          <p:cNvPr id="9" name="Picture 99" descr="Screenshot (940)">
            <a:extLst>
              <a:ext uri="{FF2B5EF4-FFF2-40B4-BE49-F238E27FC236}">
                <a16:creationId xmlns:a16="http://schemas.microsoft.com/office/drawing/2014/main" id="{2660247C-83D1-D0ED-820E-0C8B920EDAF5}"/>
              </a:ext>
            </a:extLst>
          </p:cNvPr>
          <p:cNvPicPr>
            <a:picLocks noChangeAspect="1"/>
          </p:cNvPicPr>
          <p:nvPr/>
        </p:nvPicPr>
        <p:blipFill>
          <a:blip r:embed="rId3"/>
          <a:srcRect t="11720" r="1839" b="5622"/>
          <a:stretch>
            <a:fillRect/>
          </a:stretch>
        </p:blipFill>
        <p:spPr>
          <a:xfrm>
            <a:off x="1250243" y="3951215"/>
            <a:ext cx="5571239" cy="2637180"/>
          </a:xfrm>
          <a:prstGeom prst="rect">
            <a:avLst/>
          </a:prstGeom>
          <a:ln w="31750">
            <a:solidFill>
              <a:schemeClr val="bg1"/>
            </a:solidFill>
          </a:ln>
          <a:effectLst>
            <a:glow rad="101600">
              <a:schemeClr val="accent1">
                <a:satMod val="175000"/>
                <a:alpha val="40000"/>
              </a:schemeClr>
            </a:glow>
          </a:effectLst>
        </p:spPr>
      </p:pic>
      <p:sp>
        <p:nvSpPr>
          <p:cNvPr id="10" name="TextBox 9">
            <a:extLst>
              <a:ext uri="{FF2B5EF4-FFF2-40B4-BE49-F238E27FC236}">
                <a16:creationId xmlns:a16="http://schemas.microsoft.com/office/drawing/2014/main" id="{6C168F7D-1089-724F-73ED-B4A3B6C0A1B5}"/>
              </a:ext>
            </a:extLst>
          </p:cNvPr>
          <p:cNvSpPr txBox="1"/>
          <p:nvPr/>
        </p:nvSpPr>
        <p:spPr>
          <a:xfrm>
            <a:off x="8511853" y="3364321"/>
            <a:ext cx="1634631" cy="646331"/>
          </a:xfrm>
          <a:prstGeom prst="rect">
            <a:avLst/>
          </a:prstGeom>
          <a:noFill/>
        </p:spPr>
        <p:txBody>
          <a:bodyPr wrap="square">
            <a:spAutoFit/>
          </a:bodyPr>
          <a:lstStyle/>
          <a:p>
            <a:r>
              <a:rPr lang="en-US" i="1" dirty="0">
                <a:solidFill>
                  <a:srgbClr val="FFFF00"/>
                </a:solidFill>
                <a:latin typeface="Bookman Old Style" panose="02050604050505020204" pitchFamily="18" charset="0"/>
              </a:rPr>
              <a:t>Web Server Visualisation </a:t>
            </a:r>
            <a:endParaRPr lang="en-US" i="1" dirty="0">
              <a:solidFill>
                <a:schemeClr val="accent1">
                  <a:lumMod val="40000"/>
                  <a:lumOff val="60000"/>
                </a:schemeClr>
              </a:solidFill>
              <a:latin typeface="Bookman Old Style" panose="02050604050505020204" pitchFamily="18" charset="0"/>
            </a:endParaRPr>
          </a:p>
        </p:txBody>
      </p:sp>
    </p:spTree>
    <p:extLst>
      <p:ext uri="{BB962C8B-B14F-4D97-AF65-F5344CB8AC3E}">
        <p14:creationId xmlns:p14="http://schemas.microsoft.com/office/powerpoint/2010/main" val="10982284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A9E72-DE67-4FE3-F76D-9E0D48B248F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0B45004-CE6C-09BC-08B1-CADD2FA691E5}"/>
              </a:ext>
            </a:extLst>
          </p:cNvPr>
          <p:cNvSpPr txBox="1"/>
          <p:nvPr/>
        </p:nvSpPr>
        <p:spPr>
          <a:xfrm>
            <a:off x="1314251" y="269605"/>
            <a:ext cx="9826330"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rPr>
              <a:t>ADDITIONAL FEATURES</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41B8E5FC-A2AB-405B-88BB-0F813B21223D}"/>
              </a:ext>
            </a:extLst>
          </p:cNvPr>
          <p:cNvSpPr txBox="1"/>
          <p:nvPr/>
        </p:nvSpPr>
        <p:spPr>
          <a:xfrm>
            <a:off x="11308360" y="5823604"/>
            <a:ext cx="959141"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⟮22⟯</a:t>
            </a:r>
          </a:p>
        </p:txBody>
      </p:sp>
      <p:sp>
        <p:nvSpPr>
          <p:cNvPr id="7" name="Rectangle 3">
            <a:extLst>
              <a:ext uri="{FF2B5EF4-FFF2-40B4-BE49-F238E27FC236}">
                <a16:creationId xmlns:a16="http://schemas.microsoft.com/office/drawing/2014/main" id="{1CB237E6-00EC-6619-E3C4-D04FBAF53A0F}"/>
              </a:ext>
            </a:extLst>
          </p:cNvPr>
          <p:cNvSpPr>
            <a:spLocks noChangeArrowheads="1"/>
          </p:cNvSpPr>
          <p:nvPr/>
        </p:nvSpPr>
        <p:spPr bwMode="auto">
          <a:xfrm>
            <a:off x="1314251" y="1158388"/>
            <a:ext cx="9606791" cy="4816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Real–time Weather Data Collection :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Continuously monitors parameters like temperature, humidity, pressure, and light intensity, providing up–to–date weather information.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100" dirty="0">
              <a:solidFill>
                <a:schemeClr val="accent1">
                  <a:lumMod val="40000"/>
                  <a:lumOff val="60000"/>
                </a:schemeClr>
              </a:solidFill>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Wireless Sensor Connectivity :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Uses technologies like Wi–Fi, LoRa, Zigbee, or GSM to transmit data without physical connections, enabling remote deployment in any location.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100" dirty="0">
              <a:solidFill>
                <a:schemeClr val="accent1">
                  <a:lumMod val="40000"/>
                  <a:lumOff val="60000"/>
                </a:schemeClr>
              </a:solidFill>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Cloud–Based Data Storage :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Collected data is sent to cloud platforms for secure storage, easy access, and long–term analysis from anywhere.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100" dirty="0">
              <a:solidFill>
                <a:schemeClr val="accent1">
                  <a:lumMod val="40000"/>
                  <a:lumOff val="60000"/>
                </a:schemeClr>
              </a:solidFill>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Alerts and Notifications :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Sends SMS, email, or app notifications when extreme or abnormal weather conditions are detected, helping in quick decision–making.</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100" dirty="0">
              <a:solidFill>
                <a:schemeClr val="accent1">
                  <a:lumMod val="40000"/>
                  <a:lumOff val="60000"/>
                </a:schemeClr>
              </a:solidFill>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Machine Learning–Based Predictions :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Applies ML algorithms to analyze patterns and forecast weather conditions with higher accuracy over time.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100" dirty="0">
              <a:solidFill>
                <a:schemeClr val="accent1">
                  <a:lumMod val="40000"/>
                  <a:lumOff val="60000"/>
                </a:schemeClr>
              </a:solidFill>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Low Power Consumption :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Designed for energy efficiency, often powered by solar panels or long–life batteries, making it ideal for remote or outdoor use.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100" dirty="0">
              <a:solidFill>
                <a:schemeClr val="accent1">
                  <a:lumMod val="40000"/>
                  <a:lumOff val="60000"/>
                </a:schemeClr>
              </a:solidFill>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Web and Mobile Dashboard Access :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Data visualization dashboards are available through web browsers or mobile apps for convenient monitoring and control.</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100" dirty="0">
              <a:solidFill>
                <a:schemeClr val="accent1">
                  <a:lumMod val="40000"/>
                  <a:lumOff val="60000"/>
                </a:schemeClr>
              </a:solidFill>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Scalable and Modular Design :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Easy to expand the system by adding more sensors or deploying in multiple locations without major changes to the setup.</a:t>
            </a:r>
          </a:p>
        </p:txBody>
      </p:sp>
    </p:spTree>
    <p:extLst>
      <p:ext uri="{BB962C8B-B14F-4D97-AF65-F5344CB8AC3E}">
        <p14:creationId xmlns:p14="http://schemas.microsoft.com/office/powerpoint/2010/main" val="22000999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6DB0C-BBA8-148A-8C6E-095B0858D8C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8DF5FE2-AAC9-FBDE-E9D7-E7F990DE6723}"/>
              </a:ext>
            </a:extLst>
          </p:cNvPr>
          <p:cNvSpPr txBox="1"/>
          <p:nvPr/>
        </p:nvSpPr>
        <p:spPr>
          <a:xfrm>
            <a:off x="1314251" y="269605"/>
            <a:ext cx="9826330"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rPr>
              <a:t>APPLICATIONS</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0B939BA2-A600-DED0-DF88-030F166D6F0F}"/>
              </a:ext>
            </a:extLst>
          </p:cNvPr>
          <p:cNvSpPr txBox="1"/>
          <p:nvPr/>
        </p:nvSpPr>
        <p:spPr>
          <a:xfrm>
            <a:off x="11308360" y="5823604"/>
            <a:ext cx="959141"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⟮23⟯</a:t>
            </a:r>
          </a:p>
        </p:txBody>
      </p:sp>
      <p:sp>
        <p:nvSpPr>
          <p:cNvPr id="3" name="Rectangle 1">
            <a:extLst>
              <a:ext uri="{FF2B5EF4-FFF2-40B4-BE49-F238E27FC236}">
                <a16:creationId xmlns:a16="http://schemas.microsoft.com/office/drawing/2014/main" id="{2C0F65EE-11D7-D67F-6A3D-B662F78BA295}"/>
              </a:ext>
            </a:extLst>
          </p:cNvPr>
          <p:cNvSpPr>
            <a:spLocks noChangeArrowheads="1"/>
          </p:cNvSpPr>
          <p:nvPr/>
        </p:nvSpPr>
        <p:spPr bwMode="auto">
          <a:xfrm>
            <a:off x="1314251" y="1154873"/>
            <a:ext cx="9967389" cy="4816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Smart Agriculture :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Helps farmers monitor weather conditions in real time, aiding in irrigation scheduling, pest control, and crop planning.</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100" dirty="0">
              <a:solidFill>
                <a:schemeClr val="accent1">
                  <a:lumMod val="40000"/>
                  <a:lumOff val="60000"/>
                </a:schemeClr>
              </a:solidFill>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Disaster Management and Early Warning :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Provides timely alerts for natural disasters like storms, heavy rainfall, or extreme heat, improving public safety and preparedness.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100" dirty="0">
              <a:solidFill>
                <a:schemeClr val="accent1">
                  <a:lumMod val="40000"/>
                  <a:lumOff val="60000"/>
                </a:schemeClr>
              </a:solidFill>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Smart Cities :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Integrates with urban systems to monitor microclimates, air quality, and support environmental planning and traffic management.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100" dirty="0">
              <a:solidFill>
                <a:schemeClr val="accent1">
                  <a:lumMod val="40000"/>
                  <a:lumOff val="60000"/>
                </a:schemeClr>
              </a:solidFill>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Academic and Research Purposes :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Offers accurate, real–time data for climate studies, student projects, and scientific experiments in environmental sciences.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100" dirty="0">
              <a:solidFill>
                <a:schemeClr val="accent1">
                  <a:lumMod val="40000"/>
                  <a:lumOff val="60000"/>
                </a:schemeClr>
              </a:solidFill>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Coastal and Marine Monitoring :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Monitors weather near coastal areas, ports, and seas, helping in fishing, shipping, and beach safety operations.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100" dirty="0">
              <a:solidFill>
                <a:schemeClr val="accent1">
                  <a:lumMod val="40000"/>
                  <a:lumOff val="60000"/>
                </a:schemeClr>
              </a:solidFill>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Industrial Safety and Monitoring :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Ensures safe environmental conditions in factories, warehouses, and chemical plants by tracking temperature and humidity.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100" dirty="0">
              <a:solidFill>
                <a:schemeClr val="accent1">
                  <a:lumMod val="40000"/>
                  <a:lumOff val="60000"/>
                </a:schemeClr>
              </a:solidFill>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Home Automation Systems :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Adjusts smart home devices like air conditioners, fans, and heating systems based on real–time weather data.</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100" dirty="0">
              <a:solidFill>
                <a:schemeClr val="accent1">
                  <a:lumMod val="40000"/>
                  <a:lumOff val="60000"/>
                </a:schemeClr>
              </a:solidFill>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Remote and Rural Area Monitoring</a:t>
            </a:r>
            <a:r>
              <a:rPr lang="en-US" altLang="en-US" b="1" dirty="0">
                <a:solidFill>
                  <a:schemeClr val="accent5">
                    <a:lumMod val="60000"/>
                    <a:lumOff val="40000"/>
                  </a:schemeClr>
                </a:solidFill>
                <a:latin typeface="Goudy Old Style" panose="02020502050305020303" pitchFamily="18" charset="0"/>
              </a:rPr>
              <a:t> :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Useful in inaccessible areas without nearby weather stations to ensure timely data for local planning and safety.</a:t>
            </a:r>
          </a:p>
        </p:txBody>
      </p:sp>
    </p:spTree>
    <p:extLst>
      <p:ext uri="{BB962C8B-B14F-4D97-AF65-F5344CB8AC3E}">
        <p14:creationId xmlns:p14="http://schemas.microsoft.com/office/powerpoint/2010/main" val="30577854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5F1BF-3008-BC63-57F8-4FBE7528FD5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83D65B7-B844-D518-E3C4-4C499039D6DB}"/>
              </a:ext>
            </a:extLst>
          </p:cNvPr>
          <p:cNvSpPr txBox="1"/>
          <p:nvPr/>
        </p:nvSpPr>
        <p:spPr>
          <a:xfrm>
            <a:off x="1045802" y="303161"/>
            <a:ext cx="10992399"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cs typeface="Verdana"/>
              </a:rPr>
              <a:t>ADVANTAGES </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6" name="Rectangle 2">
            <a:extLst>
              <a:ext uri="{FF2B5EF4-FFF2-40B4-BE49-F238E27FC236}">
                <a16:creationId xmlns:a16="http://schemas.microsoft.com/office/drawing/2014/main" id="{5D0E9EAF-CE71-1796-BE92-A60DCB2BDF5C}"/>
              </a:ext>
            </a:extLst>
          </p:cNvPr>
          <p:cNvSpPr>
            <a:spLocks noChangeArrowheads="1"/>
          </p:cNvSpPr>
          <p:nvPr/>
        </p:nvSpPr>
        <p:spPr bwMode="auto">
          <a:xfrm>
            <a:off x="1045802" y="1182678"/>
            <a:ext cx="9859992"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Reduced Field Damaging Conditions :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Real–time weather alerts help prevent crop or equipment damage by enabling timely action during extreme weather like heavy rain, frost, or heatwaves.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100" dirty="0">
              <a:solidFill>
                <a:schemeClr val="accent1">
                  <a:lumMod val="40000"/>
                  <a:lumOff val="60000"/>
                </a:schemeClr>
              </a:solidFill>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Improved Safety and Security :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Early warnings and environmental monitoring ensure the safety of people and assets, especially in agriculture, industry, or disaster–prone zones.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100" dirty="0">
              <a:solidFill>
                <a:schemeClr val="accent1">
                  <a:lumMod val="40000"/>
                  <a:lumOff val="60000"/>
                </a:schemeClr>
              </a:solidFill>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High–Quality Receiving Data :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Advanced sensors and continuous monitoring provide accurate, precise, and reliable weather data for decision–making and forecasting.</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100" dirty="0">
              <a:solidFill>
                <a:schemeClr val="accent1">
                  <a:lumMod val="40000"/>
                  <a:lumOff val="60000"/>
                </a:schemeClr>
              </a:solidFill>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Less Power Consumption :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Designed with energy–efficient components, the system can run on low power, often supported by solar or long–life battery sources.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100" dirty="0">
              <a:solidFill>
                <a:schemeClr val="accent1">
                  <a:lumMod val="40000"/>
                  <a:lumOff val="60000"/>
                </a:schemeClr>
              </a:solidFill>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High Accuracy :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Integration of IoT and machine learning leads to better data analysis and highly accurate weather predictions over time.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100" dirty="0">
              <a:solidFill>
                <a:schemeClr val="accent1">
                  <a:lumMod val="40000"/>
                  <a:lumOff val="60000"/>
                </a:schemeClr>
              </a:solidFill>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Smart Way to Monitor Environment :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Automation and remote access make it easier to observe environmental conditions without manual effort, reducing human error.</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100" dirty="0">
              <a:solidFill>
                <a:schemeClr val="accent1">
                  <a:lumMod val="40000"/>
                  <a:lumOff val="60000"/>
                </a:schemeClr>
              </a:solidFill>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Low Cost and Less Effort Required :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Once deployed, the system requires minimal maintenance and human intervention, offering a cost–effective solution in the long term.</a:t>
            </a:r>
          </a:p>
        </p:txBody>
      </p:sp>
      <p:sp>
        <p:nvSpPr>
          <p:cNvPr id="4" name="TextBox 3">
            <a:extLst>
              <a:ext uri="{FF2B5EF4-FFF2-40B4-BE49-F238E27FC236}">
                <a16:creationId xmlns:a16="http://schemas.microsoft.com/office/drawing/2014/main" id="{C3987470-12CA-E8A1-70BA-8E432A080ABB}"/>
              </a:ext>
            </a:extLst>
          </p:cNvPr>
          <p:cNvSpPr txBox="1"/>
          <p:nvPr/>
        </p:nvSpPr>
        <p:spPr>
          <a:xfrm>
            <a:off x="11308360" y="5823604"/>
            <a:ext cx="959141"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⟮24⟯</a:t>
            </a:r>
          </a:p>
        </p:txBody>
      </p:sp>
    </p:spTree>
    <p:extLst>
      <p:ext uri="{BB962C8B-B14F-4D97-AF65-F5344CB8AC3E}">
        <p14:creationId xmlns:p14="http://schemas.microsoft.com/office/powerpoint/2010/main" val="24121571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98CB1-C277-0D4B-E60A-25B0642986A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F662195-AA7C-E3AC-F37A-991AA82673D5}"/>
              </a:ext>
            </a:extLst>
          </p:cNvPr>
          <p:cNvSpPr txBox="1"/>
          <p:nvPr/>
        </p:nvSpPr>
        <p:spPr>
          <a:xfrm>
            <a:off x="1314251" y="269605"/>
            <a:ext cx="9826330"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rPr>
              <a:t>CHALLENGES &amp; LIMITATIONS</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A0706F38-5D11-24C8-633A-082B3FE06B9D}"/>
              </a:ext>
            </a:extLst>
          </p:cNvPr>
          <p:cNvSpPr txBox="1"/>
          <p:nvPr/>
        </p:nvSpPr>
        <p:spPr>
          <a:xfrm>
            <a:off x="11308360" y="5823604"/>
            <a:ext cx="959141"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⟮25⟯</a:t>
            </a:r>
          </a:p>
        </p:txBody>
      </p:sp>
      <p:sp>
        <p:nvSpPr>
          <p:cNvPr id="7" name="Rectangle 3">
            <a:extLst>
              <a:ext uri="{FF2B5EF4-FFF2-40B4-BE49-F238E27FC236}">
                <a16:creationId xmlns:a16="http://schemas.microsoft.com/office/drawing/2014/main" id="{CADFA023-D381-19AD-9F5E-D6BF4BF767E0}"/>
              </a:ext>
            </a:extLst>
          </p:cNvPr>
          <p:cNvSpPr>
            <a:spLocks noChangeArrowheads="1"/>
          </p:cNvSpPr>
          <p:nvPr/>
        </p:nvSpPr>
        <p:spPr bwMode="auto">
          <a:xfrm>
            <a:off x="1314251" y="1086548"/>
            <a:ext cx="9910219" cy="518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Data quality and reliability :</a:t>
            </a:r>
            <a:r>
              <a:rPr kumimoji="0" lang="en-US" altLang="en-US" sz="1800" b="0" i="0" u="none" strike="noStrike" cap="none" normalizeH="0" baseline="0" dirty="0">
                <a:ln>
                  <a:noFill/>
                </a:ln>
                <a:solidFill>
                  <a:schemeClr val="accent5">
                    <a:lumMod val="60000"/>
                    <a:lumOff val="40000"/>
                  </a:schemeClr>
                </a:solidFill>
                <a:effectLst/>
                <a:latin typeface="Goudy Old Style" panose="02020502050305020303" pitchFamily="18" charset="0"/>
              </a:rPr>
              <a:t>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Inaccurate or missing data can affect decision–making.</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100" dirty="0">
              <a:solidFill>
                <a:schemeClr val="accent1">
                  <a:lumMod val="40000"/>
                  <a:lumOff val="60000"/>
                </a:schemeClr>
              </a:solidFill>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High computational requirements</a:t>
            </a:r>
            <a:r>
              <a:rPr lang="en-US" altLang="en-US" b="1" dirty="0">
                <a:solidFill>
                  <a:schemeClr val="accent5">
                    <a:lumMod val="60000"/>
                    <a:lumOff val="40000"/>
                  </a:schemeClr>
                </a:solidFill>
                <a:latin typeface="Goudy Old Style" panose="02020502050305020303" pitchFamily="18" charset="0"/>
              </a:rPr>
              <a:t> :</a:t>
            </a:r>
            <a:r>
              <a:rPr lang="en-US" altLang="en-US" dirty="0">
                <a:solidFill>
                  <a:schemeClr val="accent5">
                    <a:lumMod val="60000"/>
                    <a:lumOff val="40000"/>
                  </a:schemeClr>
                </a:solidFill>
                <a:latin typeface="Goudy Old Style" panose="02020502050305020303" pitchFamily="18" charset="0"/>
              </a:rPr>
              <a:t>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ML and analytics need strong processing power.</a:t>
            </a:r>
          </a:p>
          <a:p>
            <a:pPr marL="285750" lvl="0" indent="-285750" defTabSz="914400" eaLnBrk="0" fontAlgn="base" hangingPunct="0">
              <a:spcBef>
                <a:spcPct val="0"/>
              </a:spcBef>
              <a:spcAft>
                <a:spcPct val="0"/>
              </a:spcAft>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Data privacy and security</a:t>
            </a:r>
            <a:r>
              <a:rPr lang="en-US" altLang="en-US" b="1" dirty="0">
                <a:solidFill>
                  <a:schemeClr val="accent5">
                    <a:lumMod val="60000"/>
                    <a:lumOff val="40000"/>
                  </a:schemeClr>
                </a:solidFill>
                <a:latin typeface="Goudy Old Style" panose="02020502050305020303" pitchFamily="18" charset="0"/>
              </a:rPr>
              <a:t> :</a:t>
            </a:r>
            <a:r>
              <a:rPr lang="en-US" altLang="en-US" dirty="0">
                <a:solidFill>
                  <a:schemeClr val="accent5">
                    <a:lumMod val="60000"/>
                    <a:lumOff val="40000"/>
                  </a:schemeClr>
                </a:solidFill>
                <a:latin typeface="Goudy Old Style" panose="02020502050305020303" pitchFamily="18" charset="0"/>
              </a:rPr>
              <a:t>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Risk of data breaches during wireless/cloud transmission.</a:t>
            </a:r>
          </a:p>
          <a:p>
            <a:pPr marL="285750" lvl="0" indent="-285750" defTabSz="914400" eaLnBrk="0" fontAlgn="base" hangingPunct="0">
              <a:spcBef>
                <a:spcPct val="0"/>
              </a:spcBef>
              <a:spcAft>
                <a:spcPct val="0"/>
              </a:spcAft>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High initial cost and maintenance</a:t>
            </a:r>
            <a:r>
              <a:rPr lang="en-US" altLang="en-US" b="1" dirty="0">
                <a:solidFill>
                  <a:schemeClr val="accent5">
                    <a:lumMod val="60000"/>
                    <a:lumOff val="40000"/>
                  </a:schemeClr>
                </a:solidFill>
                <a:latin typeface="Goudy Old Style" panose="02020502050305020303" pitchFamily="18" charset="0"/>
              </a:rPr>
              <a:t> :</a:t>
            </a:r>
            <a:r>
              <a:rPr lang="en-US" altLang="en-US" dirty="0">
                <a:solidFill>
                  <a:schemeClr val="accent5">
                    <a:lumMod val="60000"/>
                    <a:lumOff val="40000"/>
                  </a:schemeClr>
                </a:solidFill>
                <a:latin typeface="Goudy Old Style" panose="02020502050305020303" pitchFamily="18" charset="0"/>
              </a:rPr>
              <a:t>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Sensors, infrastructure, and upkeep can be costly.</a:t>
            </a:r>
          </a:p>
          <a:p>
            <a:pPr marL="285750" lvl="0" indent="-285750" defTabSz="914400" eaLnBrk="0" fontAlgn="base" hangingPunct="0">
              <a:spcBef>
                <a:spcPct val="0"/>
              </a:spcBef>
              <a:spcAft>
                <a:spcPct val="0"/>
              </a:spcAft>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Data heterogeneity and integration</a:t>
            </a:r>
            <a:r>
              <a:rPr lang="en-US" altLang="en-US" b="1" dirty="0">
                <a:solidFill>
                  <a:schemeClr val="accent5">
                    <a:lumMod val="60000"/>
                    <a:lumOff val="40000"/>
                  </a:schemeClr>
                </a:solidFill>
                <a:latin typeface="Goudy Old Style" panose="02020502050305020303" pitchFamily="18" charset="0"/>
              </a:rPr>
              <a:t> :</a:t>
            </a:r>
            <a:r>
              <a:rPr lang="en-US" altLang="en-US" dirty="0">
                <a:solidFill>
                  <a:schemeClr val="accent5">
                    <a:lumMod val="60000"/>
                    <a:lumOff val="40000"/>
                  </a:schemeClr>
                </a:solidFill>
                <a:latin typeface="Goudy Old Style" panose="02020502050305020303" pitchFamily="18" charset="0"/>
              </a:rPr>
              <a:t>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Difficult to merge data from diverse sources/sensors.</a:t>
            </a:r>
          </a:p>
          <a:p>
            <a:pPr marL="285750" lvl="0" indent="-285750" defTabSz="914400" eaLnBrk="0" fontAlgn="base" hangingPunct="0">
              <a:spcBef>
                <a:spcPct val="0"/>
              </a:spcBef>
              <a:spcAft>
                <a:spcPct val="0"/>
              </a:spcAft>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Limited coverage in remote areas</a:t>
            </a:r>
            <a:r>
              <a:rPr lang="en-US" altLang="en-US" b="1" dirty="0">
                <a:solidFill>
                  <a:schemeClr val="accent5">
                    <a:lumMod val="60000"/>
                    <a:lumOff val="40000"/>
                  </a:schemeClr>
                </a:solidFill>
                <a:latin typeface="Goudy Old Style" panose="02020502050305020303" pitchFamily="18" charset="0"/>
              </a:rPr>
              <a:t> :</a:t>
            </a:r>
            <a:r>
              <a:rPr lang="en-US" altLang="en-US" dirty="0">
                <a:solidFill>
                  <a:schemeClr val="accent5">
                    <a:lumMod val="60000"/>
                    <a:lumOff val="40000"/>
                  </a:schemeClr>
                </a:solidFill>
                <a:latin typeface="Goudy Old Style" panose="02020502050305020303" pitchFamily="18" charset="0"/>
              </a:rPr>
              <a:t>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Poor connectivity affects real–time monitoring.</a:t>
            </a:r>
          </a:p>
          <a:p>
            <a:pPr marL="285750" lvl="0" indent="-285750" defTabSz="914400" eaLnBrk="0" fontAlgn="base" hangingPunct="0">
              <a:spcBef>
                <a:spcPct val="0"/>
              </a:spcBef>
              <a:spcAft>
                <a:spcPct val="0"/>
              </a:spcAft>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Unpredictable weather patterns</a:t>
            </a:r>
            <a:r>
              <a:rPr lang="en-US" altLang="en-US" b="1" dirty="0">
                <a:solidFill>
                  <a:schemeClr val="accent5">
                    <a:lumMod val="60000"/>
                    <a:lumOff val="40000"/>
                  </a:schemeClr>
                </a:solidFill>
                <a:latin typeface="Goudy Old Style" panose="02020502050305020303" pitchFamily="18" charset="0"/>
              </a:rPr>
              <a:t> :</a:t>
            </a:r>
            <a:r>
              <a:rPr lang="en-US" altLang="en-US" dirty="0">
                <a:solidFill>
                  <a:schemeClr val="accent5">
                    <a:lumMod val="60000"/>
                    <a:lumOff val="40000"/>
                  </a:schemeClr>
                </a:solidFill>
                <a:latin typeface="Goudy Old Style" panose="02020502050305020303" pitchFamily="18" charset="0"/>
              </a:rPr>
              <a:t>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Weather is naturally chaotic, hard to model precisely.</a:t>
            </a:r>
          </a:p>
          <a:p>
            <a:pPr marL="285750" lvl="0" indent="-285750" defTabSz="914400" eaLnBrk="0" fontAlgn="base" hangingPunct="0">
              <a:spcBef>
                <a:spcPct val="0"/>
              </a:spcBef>
              <a:spcAft>
                <a:spcPct val="0"/>
              </a:spcAft>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Overfitting and model generalisation</a:t>
            </a:r>
            <a:r>
              <a:rPr lang="en-US" altLang="en-US" b="1" dirty="0">
                <a:solidFill>
                  <a:schemeClr val="accent5">
                    <a:lumMod val="60000"/>
                    <a:lumOff val="40000"/>
                  </a:schemeClr>
                </a:solidFill>
                <a:latin typeface="Goudy Old Style" panose="02020502050305020303" pitchFamily="18" charset="0"/>
              </a:rPr>
              <a:t> :</a:t>
            </a:r>
            <a:r>
              <a:rPr lang="en-US" altLang="en-US" dirty="0">
                <a:solidFill>
                  <a:schemeClr val="accent5">
                    <a:lumMod val="60000"/>
                    <a:lumOff val="40000"/>
                  </a:schemeClr>
                </a:solidFill>
                <a:latin typeface="Goudy Old Style" panose="02020502050305020303" pitchFamily="18" charset="0"/>
              </a:rPr>
              <a:t>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ML models may perform well on training data but poorly in real–world scenarios.</a:t>
            </a:r>
          </a:p>
          <a:p>
            <a:pPr marL="285750" lvl="0" indent="-285750" defTabSz="914400" eaLnBrk="0" fontAlgn="base" hangingPunct="0">
              <a:spcBef>
                <a:spcPct val="0"/>
              </a:spcBef>
              <a:spcAft>
                <a:spcPct val="0"/>
              </a:spcAft>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Energy consumption</a:t>
            </a:r>
            <a:r>
              <a:rPr lang="en-US" altLang="en-US" b="1" dirty="0">
                <a:solidFill>
                  <a:schemeClr val="accent5">
                    <a:lumMod val="60000"/>
                    <a:lumOff val="40000"/>
                  </a:schemeClr>
                </a:solidFill>
                <a:latin typeface="Goudy Old Style" panose="02020502050305020303" pitchFamily="18" charset="0"/>
              </a:rPr>
              <a:t> :</a:t>
            </a:r>
            <a:r>
              <a:rPr lang="en-US" altLang="en-US" dirty="0">
                <a:solidFill>
                  <a:schemeClr val="accent5">
                    <a:lumMod val="60000"/>
                    <a:lumOff val="40000"/>
                  </a:schemeClr>
                </a:solidFill>
                <a:latin typeface="Goudy Old Style" panose="02020502050305020303" pitchFamily="18" charset="0"/>
              </a:rPr>
              <a:t>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Continuous data collection may drain batteries or power sources.</a:t>
            </a:r>
          </a:p>
          <a:p>
            <a:pPr marL="285750" lvl="0" indent="-285750" defTabSz="914400" eaLnBrk="0" fontAlgn="base" hangingPunct="0">
              <a:spcBef>
                <a:spcPct val="0"/>
              </a:spcBef>
              <a:spcAft>
                <a:spcPct val="0"/>
              </a:spcAft>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Latency and real–time constraints</a:t>
            </a:r>
            <a:r>
              <a:rPr lang="en-US" altLang="en-US" b="1" dirty="0">
                <a:solidFill>
                  <a:schemeClr val="accent5">
                    <a:lumMod val="60000"/>
                    <a:lumOff val="40000"/>
                  </a:schemeClr>
                </a:solidFill>
                <a:latin typeface="Goudy Old Style" panose="02020502050305020303" pitchFamily="18" charset="0"/>
              </a:rPr>
              <a:t> :</a:t>
            </a:r>
            <a:r>
              <a:rPr lang="en-US" altLang="en-US" dirty="0">
                <a:solidFill>
                  <a:schemeClr val="accent5">
                    <a:lumMod val="60000"/>
                    <a:lumOff val="40000"/>
                  </a:schemeClr>
                </a:solidFill>
                <a:latin typeface="Goudy Old Style" panose="02020502050305020303" pitchFamily="18" charset="0"/>
              </a:rPr>
              <a:t>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Delays in data transmission can hinder timely alerts.</a:t>
            </a:r>
          </a:p>
          <a:p>
            <a:pPr marL="285750" lvl="0" indent="-285750" defTabSz="914400" eaLnBrk="0" fontAlgn="base" hangingPunct="0">
              <a:spcBef>
                <a:spcPct val="0"/>
              </a:spcBef>
              <a:spcAft>
                <a:spcPct val="0"/>
              </a:spcAft>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Limited training data for rare events</a:t>
            </a:r>
            <a:r>
              <a:rPr lang="en-US" altLang="en-US" b="1" dirty="0">
                <a:solidFill>
                  <a:schemeClr val="accent5">
                    <a:lumMod val="60000"/>
                    <a:lumOff val="40000"/>
                  </a:schemeClr>
                </a:solidFill>
                <a:latin typeface="Goudy Old Style" panose="02020502050305020303" pitchFamily="18" charset="0"/>
              </a:rPr>
              <a:t> :</a:t>
            </a:r>
            <a:r>
              <a:rPr lang="en-US" altLang="en-US" dirty="0">
                <a:solidFill>
                  <a:schemeClr val="accent5">
                    <a:lumMod val="60000"/>
                    <a:lumOff val="40000"/>
                  </a:schemeClr>
                </a:solidFill>
                <a:latin typeface="Goudy Old Style" panose="02020502050305020303" pitchFamily="18" charset="0"/>
              </a:rPr>
              <a:t>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Extreme weather events occur infrequently, limiting ML accuracy.</a:t>
            </a:r>
          </a:p>
          <a:p>
            <a:pPr marL="285750" lvl="0" indent="-285750" defTabSz="914400" eaLnBrk="0" fontAlgn="base" hangingPunct="0">
              <a:spcBef>
                <a:spcPct val="0"/>
              </a:spcBef>
              <a:spcAft>
                <a:spcPct val="0"/>
              </a:spcAft>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Environmental impact on IoT devices</a:t>
            </a:r>
            <a:r>
              <a:rPr lang="en-US" altLang="en-US" b="1" dirty="0">
                <a:solidFill>
                  <a:schemeClr val="accent5">
                    <a:lumMod val="60000"/>
                    <a:lumOff val="40000"/>
                  </a:schemeClr>
                </a:solidFill>
                <a:latin typeface="Goudy Old Style" panose="02020502050305020303" pitchFamily="18" charset="0"/>
              </a:rPr>
              <a:t> :</a:t>
            </a:r>
            <a:r>
              <a:rPr lang="en-US" altLang="en-US" dirty="0">
                <a:solidFill>
                  <a:schemeClr val="accent5">
                    <a:lumMod val="60000"/>
                    <a:lumOff val="40000"/>
                  </a:schemeClr>
                </a:solidFill>
                <a:latin typeface="Goudy Old Style" panose="02020502050305020303" pitchFamily="18" charset="0"/>
              </a:rPr>
              <a:t>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Harsh conditions can damage sensors or reduce their accuracy.</a:t>
            </a:r>
          </a:p>
          <a:p>
            <a:pPr marL="285750" lvl="0" indent="-285750" defTabSz="914400" eaLnBrk="0" fontAlgn="base" hangingPunct="0">
              <a:spcBef>
                <a:spcPct val="0"/>
              </a:spcBef>
              <a:spcAft>
                <a:spcPct val="0"/>
              </a:spcAft>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Regulatory and compliance issues</a:t>
            </a:r>
            <a:r>
              <a:rPr lang="en-US" altLang="en-US" b="1" dirty="0">
                <a:solidFill>
                  <a:schemeClr val="accent5">
                    <a:lumMod val="60000"/>
                    <a:lumOff val="40000"/>
                  </a:schemeClr>
                </a:solidFill>
                <a:latin typeface="Goudy Old Style" panose="02020502050305020303" pitchFamily="18" charset="0"/>
              </a:rPr>
              <a:t> :</a:t>
            </a:r>
            <a:r>
              <a:rPr lang="en-US" altLang="en-US" dirty="0">
                <a:solidFill>
                  <a:schemeClr val="accent5">
                    <a:lumMod val="60000"/>
                    <a:lumOff val="40000"/>
                  </a:schemeClr>
                </a:solidFill>
                <a:latin typeface="Goudy Old Style" panose="02020502050305020303" pitchFamily="18" charset="0"/>
              </a:rPr>
              <a:t>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Must adhere to data laws and communication regulations.</a:t>
            </a:r>
          </a:p>
          <a:p>
            <a:pPr marL="285750" lvl="0" indent="-285750" defTabSz="914400" eaLnBrk="0" fontAlgn="base" hangingPunct="0">
              <a:spcBef>
                <a:spcPct val="0"/>
              </a:spcBef>
              <a:spcAft>
                <a:spcPct val="0"/>
              </a:spcAft>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Limited interpretability of ML models</a:t>
            </a:r>
            <a:r>
              <a:rPr lang="en-US" altLang="en-US" b="1" dirty="0">
                <a:solidFill>
                  <a:schemeClr val="accent5">
                    <a:lumMod val="60000"/>
                    <a:lumOff val="40000"/>
                  </a:schemeClr>
                </a:solidFill>
                <a:latin typeface="Goudy Old Style" panose="02020502050305020303" pitchFamily="18" charset="0"/>
              </a:rPr>
              <a:t> :</a:t>
            </a:r>
            <a:r>
              <a:rPr lang="en-US" altLang="en-US" dirty="0">
                <a:solidFill>
                  <a:schemeClr val="accent5">
                    <a:lumMod val="60000"/>
                    <a:lumOff val="40000"/>
                  </a:schemeClr>
                </a:solidFill>
                <a:latin typeface="Goudy Old Style" panose="02020502050305020303" pitchFamily="18" charset="0"/>
              </a:rPr>
              <a:t>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Complex models are hard to understand and trust.</a:t>
            </a:r>
          </a:p>
          <a:p>
            <a:pPr marL="285750" lvl="0" indent="-285750" defTabSz="914400" eaLnBrk="0" fontAlgn="base" hangingPunct="0">
              <a:spcBef>
                <a:spcPct val="0"/>
              </a:spcBef>
              <a:spcAft>
                <a:spcPct val="0"/>
              </a:spcAft>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endParaRPr kumimoji="0" lang="en-US" altLang="en-US" sz="100" b="0" i="0" u="none" strike="noStrike" cap="none" normalizeH="0" baseline="0" dirty="0">
              <a:ln>
                <a:noFill/>
              </a:ln>
              <a:solidFill>
                <a:schemeClr val="accent1">
                  <a:lumMod val="40000"/>
                  <a:lumOff val="60000"/>
                </a:schemeClr>
              </a:solidFill>
              <a:effectLst/>
              <a:latin typeface="Goudy Old Style" panose="02020502050305020303"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accent5">
                    <a:lumMod val="60000"/>
                    <a:lumOff val="40000"/>
                  </a:schemeClr>
                </a:solidFill>
                <a:effectLst/>
                <a:latin typeface="Goudy Old Style" panose="02020502050305020303" pitchFamily="18" charset="0"/>
              </a:rPr>
              <a:t>Dependence on cloud and Internet connectivity</a:t>
            </a:r>
            <a:r>
              <a:rPr lang="en-US" altLang="en-US" b="1" dirty="0">
                <a:solidFill>
                  <a:schemeClr val="accent5">
                    <a:lumMod val="60000"/>
                    <a:lumOff val="40000"/>
                  </a:schemeClr>
                </a:solidFill>
                <a:latin typeface="Goudy Old Style" panose="02020502050305020303" pitchFamily="18" charset="0"/>
              </a:rPr>
              <a:t> :</a:t>
            </a:r>
            <a:r>
              <a:rPr lang="en-US" altLang="en-US" dirty="0">
                <a:solidFill>
                  <a:schemeClr val="accent5">
                    <a:lumMod val="60000"/>
                    <a:lumOff val="40000"/>
                  </a:schemeClr>
                </a:solidFill>
                <a:latin typeface="Goudy Old Style" panose="02020502050305020303" pitchFamily="18" charset="0"/>
              </a:rPr>
              <a:t> </a:t>
            </a:r>
            <a:r>
              <a:rPr kumimoji="0" lang="en-US" altLang="en-US" sz="1800" b="0" i="0" u="none" strike="noStrike" cap="none" normalizeH="0" baseline="0" dirty="0">
                <a:ln>
                  <a:noFill/>
                </a:ln>
                <a:solidFill>
                  <a:schemeClr val="accent1">
                    <a:lumMod val="40000"/>
                    <a:lumOff val="60000"/>
                  </a:schemeClr>
                </a:solidFill>
                <a:effectLst/>
                <a:latin typeface="Goudy Old Style" panose="02020502050305020303" pitchFamily="18" charset="0"/>
              </a:rPr>
              <a:t>System fails or lags without reliable internet.</a:t>
            </a:r>
          </a:p>
        </p:txBody>
      </p:sp>
    </p:spTree>
    <p:extLst>
      <p:ext uri="{BB962C8B-B14F-4D97-AF65-F5344CB8AC3E}">
        <p14:creationId xmlns:p14="http://schemas.microsoft.com/office/powerpoint/2010/main" val="2422755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7FBA4-9734-447C-E5CA-75464870344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EBBC241-76E4-9223-2F1F-6EDB1A7C7103}"/>
              </a:ext>
            </a:extLst>
          </p:cNvPr>
          <p:cNvSpPr txBox="1"/>
          <p:nvPr/>
        </p:nvSpPr>
        <p:spPr>
          <a:xfrm>
            <a:off x="1314251" y="269605"/>
            <a:ext cx="9826330" cy="707886"/>
          </a:xfrm>
          <a:prstGeom prst="rect">
            <a:avLst/>
          </a:prstGeom>
          <a:noFill/>
        </p:spPr>
        <p:txBody>
          <a:bodyPr wrap="square" rtlCol="0">
            <a:spAutoFit/>
          </a:bodyPr>
          <a:lstStyle/>
          <a:p>
            <a:r>
              <a:rPr lang="en-IN" sz="4000" b="1" spc="300" dirty="0">
                <a:ln>
                  <a:solidFill>
                    <a:schemeClr val="bg1"/>
                  </a:solidFill>
                </a:ln>
                <a:solidFill>
                  <a:srgbClr val="FFFFFF"/>
                </a:solidFill>
                <a:effectLst>
                  <a:glow rad="762000">
                    <a:schemeClr val="accent6">
                      <a:lumMod val="75000"/>
                      <a:alpha val="40000"/>
                    </a:schemeClr>
                  </a:glow>
                  <a:outerShdw blurRad="38100" dist="38100" dir="2700000" algn="tl">
                    <a:srgbClr val="000000">
                      <a:alpha val="43137"/>
                    </a:srgbClr>
                  </a:outerShdw>
                </a:effectLst>
                <a:latin typeface="Copperplate Gothic Light" panose="020E0507020206020404" pitchFamily="34" charset="0"/>
              </a:rPr>
              <a:t>CONCLUSION</a:t>
            </a:r>
            <a:endParaRPr lang="en-IN" sz="4000" b="1" dirty="0">
              <a:ln>
                <a:solidFill>
                  <a:schemeClr val="bg1"/>
                </a:solidFill>
              </a:ln>
              <a:effectLst>
                <a:glow rad="762000">
                  <a:schemeClr val="accent6">
                    <a:lumMod val="75000"/>
                    <a:alpha val="40000"/>
                  </a:schemeClr>
                </a:glow>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66FCDD9B-E4EC-7C5C-D629-1D002FF795FC}"/>
              </a:ext>
            </a:extLst>
          </p:cNvPr>
          <p:cNvSpPr txBox="1"/>
          <p:nvPr/>
        </p:nvSpPr>
        <p:spPr>
          <a:xfrm>
            <a:off x="11308360" y="5823604"/>
            <a:ext cx="959141"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dirty="0">
                <a:solidFill>
                  <a:schemeClr val="bg1"/>
                </a:solidFill>
                <a:latin typeface="Century" panose="02040604050505020304" pitchFamily="18" charset="0"/>
              </a:rPr>
              <a:t>⟮26⟯</a:t>
            </a:r>
          </a:p>
        </p:txBody>
      </p:sp>
      <p:sp>
        <p:nvSpPr>
          <p:cNvPr id="7" name="Rectangle 3">
            <a:extLst>
              <a:ext uri="{FF2B5EF4-FFF2-40B4-BE49-F238E27FC236}">
                <a16:creationId xmlns:a16="http://schemas.microsoft.com/office/drawing/2014/main" id="{B88B92C5-862F-6183-1BCB-2A6CB0A1C18E}"/>
              </a:ext>
            </a:extLst>
          </p:cNvPr>
          <p:cNvSpPr>
            <a:spLocks noChangeArrowheads="1"/>
          </p:cNvSpPr>
          <p:nvPr/>
        </p:nvSpPr>
        <p:spPr bwMode="auto">
          <a:xfrm>
            <a:off x="1314251" y="1151794"/>
            <a:ext cx="9910219"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Wingdings" panose="05000000000000000000" pitchFamily="2" charset="2"/>
              <a:buChar char="Ø"/>
            </a:pPr>
            <a:r>
              <a:rPr lang="en-US" altLang="en-US" dirty="0">
                <a:solidFill>
                  <a:schemeClr val="accent1">
                    <a:lumMod val="40000"/>
                    <a:lumOff val="60000"/>
                  </a:schemeClr>
                </a:solidFill>
                <a:latin typeface="Goudy Old Style" panose="02020502050305020303" pitchFamily="18" charset="0"/>
              </a:rPr>
              <a:t>The Real–Time IoT Weather Forecast System using Machine Learning and Power BI Dashboard successfully integrates sensor–based data acquisition, real–time monitoring, intelligent forecasting, and interactive visualization to deliver a comprehensive weather prediction platform. </a:t>
            </a: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r>
              <a:rPr lang="en-US" altLang="en-US" dirty="0">
                <a:solidFill>
                  <a:schemeClr val="accent1">
                    <a:lumMod val="40000"/>
                    <a:lumOff val="60000"/>
                  </a:schemeClr>
                </a:solidFill>
                <a:latin typeface="Goudy Old Style" panose="02020502050305020303" pitchFamily="18" charset="0"/>
              </a:rPr>
              <a:t>By utilizing IoT devices such as DHT sensors, BMP280, LDR, and rain sensors, the system captures key environmental parameters with high accuracy. The application of machine learning algorithms enables predictive insights such as future temperature trends, rainfall likelihood, and air quality classification.</a:t>
            </a: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r>
              <a:rPr lang="en-US" altLang="en-US" dirty="0">
                <a:solidFill>
                  <a:schemeClr val="accent1">
                    <a:lumMod val="40000"/>
                    <a:lumOff val="60000"/>
                  </a:schemeClr>
                </a:solidFill>
                <a:latin typeface="Goudy Old Style" panose="02020502050305020303" pitchFamily="18" charset="0"/>
              </a:rPr>
              <a:t>The system's real–time visualization using Power BI ensures that users—from individuals to decision–makers—can easily interpret complex weather data and make informed choices. </a:t>
            </a: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r>
              <a:rPr lang="en-US" altLang="en-US" dirty="0">
                <a:solidFill>
                  <a:schemeClr val="accent1">
                    <a:lumMod val="40000"/>
                    <a:lumOff val="60000"/>
                  </a:schemeClr>
                </a:solidFill>
                <a:latin typeface="Goudy Old Style" panose="02020502050305020303" pitchFamily="18" charset="0"/>
              </a:rPr>
              <a:t>This project not only demonstrates the potential of combining IoT and machine learning but also showcases how data analytics and business intelligence tools can transform raw data into actionable information.</a:t>
            </a: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endParaRPr lang="en-US" altLang="en-US" sz="100" dirty="0">
              <a:solidFill>
                <a:schemeClr val="accent1">
                  <a:lumMod val="40000"/>
                  <a:lumOff val="60000"/>
                </a:schemeClr>
              </a:solidFill>
              <a:latin typeface="Goudy Old Style" panose="02020502050305020303" pitchFamily="18" charset="0"/>
            </a:endParaRPr>
          </a:p>
          <a:p>
            <a:pPr marL="285750" indent="-285750">
              <a:buFont typeface="Wingdings" panose="05000000000000000000" pitchFamily="2" charset="2"/>
              <a:buChar char="Ø"/>
            </a:pPr>
            <a:r>
              <a:rPr lang="en-US" altLang="en-US" dirty="0">
                <a:solidFill>
                  <a:schemeClr val="accent1">
                    <a:lumMod val="40000"/>
                    <a:lumOff val="60000"/>
                  </a:schemeClr>
                </a:solidFill>
                <a:latin typeface="Goudy Old Style" panose="02020502050305020303" pitchFamily="18" charset="0"/>
              </a:rPr>
              <a:t>In conclusion, the project addresses the growing need for accurate, accessible, and real–time weather forecasting. It offers scalable potential for smart agriculture, urban planning, disaster management, and environmental sustainability, making it a valuable contribution to the advancement of smart technologies in climate monitoring and prediction.</a:t>
            </a:r>
          </a:p>
        </p:txBody>
      </p:sp>
    </p:spTree>
    <p:extLst>
      <p:ext uri="{BB962C8B-B14F-4D97-AF65-F5344CB8AC3E}">
        <p14:creationId xmlns:p14="http://schemas.microsoft.com/office/powerpoint/2010/main" val="3721501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302*185"/>
  <p:tag name="TABLE_ENDDRAG_RECT" val="612*133*302*185"/>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TM16401375[[fn=Madison]]</Template>
  <TotalTime>1577</TotalTime>
  <Words>2867</Words>
  <Application>Microsoft Office PowerPoint</Application>
  <PresentationFormat>Widescreen</PresentationFormat>
  <Paragraphs>437</Paragraphs>
  <Slides>27</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27</vt:i4>
      </vt:variant>
    </vt:vector>
  </HeadingPairs>
  <TitlesOfParts>
    <vt:vector size="40" baseType="lpstr">
      <vt:lpstr>Arial</vt:lpstr>
      <vt:lpstr>Bookman Old Style</vt:lpstr>
      <vt:lpstr>Cambria Math</vt:lpstr>
      <vt:lpstr>Century</vt:lpstr>
      <vt:lpstr>Colonna MT</vt:lpstr>
      <vt:lpstr>Copperplate Gothic Light</vt:lpstr>
      <vt:lpstr>Goudy Old Style</vt:lpstr>
      <vt:lpstr>Maiandra GD</vt:lpstr>
      <vt:lpstr>MS Shell Dlg 2</vt:lpstr>
      <vt:lpstr>Times New Roman</vt:lpstr>
      <vt:lpstr>Wingdings</vt:lpstr>
      <vt:lpstr>Wingdings 3</vt:lpstr>
      <vt:lpstr>Madison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Banibrata Manna</dc:creator>
  <cp:lastModifiedBy>Banibrata Manna</cp:lastModifiedBy>
  <cp:revision>285</cp:revision>
  <dcterms:created xsi:type="dcterms:W3CDTF">2023-08-07T13:42:05Z</dcterms:created>
  <dcterms:modified xsi:type="dcterms:W3CDTF">2025-06-16T14:49:23Z</dcterms:modified>
</cp:coreProperties>
</file>